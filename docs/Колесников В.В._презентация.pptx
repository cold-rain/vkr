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92" d="100"/>
          <a:sy n="92" d="100"/>
        </p:scale>
        <p:origin x="22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517525"/>
            <a:ext cx="2190750" cy="10223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rcRect l="1801" r="1801"/>
          <a:stretch>
            <a:fillRect/>
          </a:stretch>
        </p:blipFill>
        <p:spPr>
          <a:xfrm>
            <a:off x="9620250" y="3981450"/>
            <a:ext cx="2571750" cy="28765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6157157-FC9A-4107-9EE8-4D53F33D1E62}"/>
              </a:ext>
            </a:extLst>
          </p:cNvPr>
          <p:cNvSpPr>
            <a:spLocks noGrp="1"/>
          </p:cNvSpPr>
          <p:nvPr/>
        </p:nvSpPr>
        <p:spPr>
          <a:xfrm>
            <a:off x="638175" y="2114550"/>
            <a:ext cx="5715000" cy="28575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7778" lnSpcReduction="10000"/>
          </a:bodyPr>
          <a:lstStyle/>
          <a:p>
            <a:pPr algn="l">
              <a:defRPr sz="1800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55BB"/>
                </a:solidFill>
                <a:latin typeface="Arial"/>
                <a:ea typeface="Arial"/>
                <a:cs typeface="Arial"/>
              </a:rPr>
              <a:t>Выпускная квалификационная работа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BFD7F4-46C0-46B6-BC48-D7A7E5F60435}"/>
              </a:ext>
            </a:extLst>
          </p:cNvPr>
          <p:cNvSpPr>
            <a:spLocks noGrp="1"/>
          </p:cNvSpPr>
          <p:nvPr/>
        </p:nvSpPr>
        <p:spPr>
          <a:xfrm>
            <a:off x="638175" y="2571750"/>
            <a:ext cx="8858250" cy="12192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2550">
                <a:solidFill>
                  <a:srgbClr val="0055B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0055BB"/>
                </a:solidFill>
                <a:latin typeface="Times New Roman"/>
                <a:ea typeface="Times New Roman"/>
                <a:cs typeface="Times New Roman"/>
              </a:rPr>
              <a:t>Многоагентная система на основе больших языковых моделей для решения исследовательских задач в области обработки естественного языка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90D1B3-4E51-42D3-8373-8D9E0D0AC314}"/>
              </a:ext>
            </a:extLst>
          </p:cNvPr>
          <p:cNvSpPr>
            <a:spLocks noGrp="1"/>
          </p:cNvSpPr>
          <p:nvPr/>
        </p:nvSpPr>
        <p:spPr>
          <a:xfrm>
            <a:off x="666750" y="3943350"/>
            <a:ext cx="8382000" cy="5334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8485"/>
          </a:bodyPr>
          <a:lstStyle/>
          <a:p>
            <a:pPr algn="l">
              <a:defRPr sz="1650">
                <a:solidFill>
                  <a:srgbClr val="5C64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5C6470"/>
                </a:solidFill>
                <a:latin typeface="Times New Roman"/>
                <a:ea typeface="Times New Roman"/>
                <a:cs typeface="Times New Roman"/>
              </a:rPr>
              <a:t>Прикладной эксперимент: финансово значимые признаки из новостных потоков для прогноза нефтегазового рынка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60EB04-9F12-4C2E-AE29-1A997778414E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6096000" cy="93345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7917" lnSpcReduction="10000"/>
          </a:bodyPr>
          <a:lstStyle/>
          <a:p>
            <a:pPr algn="l">
              <a:defRPr sz="1500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532"/>
                </a:solidFill>
                <a:latin typeface="Arial"/>
                <a:ea typeface="Arial"/>
                <a:cs typeface="Arial"/>
              </a:rPr>
              <a:t>Колесников В.В.</a:t>
            </a:r>
          </a:p>
          <a:p>
            <a:pPr algn="l">
              <a:defRPr sz="1500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532"/>
                </a:solidFill>
                <a:latin typeface="Arial"/>
                <a:ea typeface="Arial"/>
                <a:cs typeface="Arial"/>
              </a:rPr>
              <a:t>01.04.02 - Прикладная математика и информатика</a:t>
            </a:r>
          </a:p>
          <a:p>
            <a:pPr algn="l">
              <a:defRPr sz="1500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532"/>
                </a:solidFill>
                <a:latin typeface="Arial"/>
                <a:ea typeface="Arial"/>
                <a:cs typeface="Arial"/>
              </a:rPr>
              <a:t>Программа: Машинное обучение</a:t>
            </a:r>
          </a:p>
          <a:p>
            <a:pPr algn="l">
              <a:defRPr sz="1500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532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827660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2CB7721-7B4E-4FDF-B59F-27030CE333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055BB"/>
          </a:solidFill>
        </p:spPr>
        <p:txBody>
          <a:bodyPr/>
          <a:lstStyle/>
          <a:p>
            <a:endParaRPr lang="ru-RU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10750" y="232064"/>
            <a:ext cx="1771650" cy="6979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E1B2F63-983D-4370-9AFA-DE7F2182AF6F}"/>
              </a:ext>
            </a:extLst>
          </p:cNvPr>
          <p:cNvSpPr>
            <a:spLocks noGrp="1"/>
          </p:cNvSpPr>
          <p:nvPr/>
        </p:nvSpPr>
        <p:spPr>
          <a:xfrm>
            <a:off x="647700" y="352425"/>
            <a:ext cx="8286750" cy="552450"/>
          </a:xfrm>
          <a:prstGeom prst="rect">
            <a:avLst/>
          </a:prstGeom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27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Актуальность и проблематика исследования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D24F69-875E-4F86-BA3F-B8799631AE15}"/>
              </a:ext>
            </a:extLst>
          </p:cNvPr>
          <p:cNvSpPr>
            <a:spLocks noGrp="1"/>
          </p:cNvSpPr>
          <p:nvPr/>
        </p:nvSpPr>
        <p:spPr>
          <a:xfrm>
            <a:off x="11696700" y="6419850"/>
            <a:ext cx="266700" cy="2286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88888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176B69-F437-47E5-A1EE-7BA33418EF3B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10287000" cy="51435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85160" lnSpcReduction="20000"/>
          </a:bodyPr>
          <a:lstStyle/>
          <a:p>
            <a:pPr algn="l">
              <a:defRPr sz="2175">
                <a:solidFill>
                  <a:srgbClr val="2025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202532"/>
                </a:solidFill>
                <a:latin typeface="Times New Roman"/>
                <a:ea typeface="Times New Roman"/>
                <a:cs typeface="Times New Roman"/>
              </a:rPr>
              <a:t>Проблема: классические рыночные модели видят временной ряд, но не извлекают смысл из новостей.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38A4CD-A3D4-457D-983E-010D143EC7AD}"/>
              </a:ext>
            </a:extLst>
          </p:cNvPr>
          <p:cNvSpPr>
            <a:spLocks noGrp="1"/>
          </p:cNvSpPr>
          <p:nvPr/>
        </p:nvSpPr>
        <p:spPr>
          <a:xfrm>
            <a:off x="781050" y="2714625"/>
            <a:ext cx="310515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6D5954-8D39-45A8-B392-FCF8083023AF}"/>
              </a:ext>
            </a:extLst>
          </p:cNvPr>
          <p:cNvSpPr>
            <a:spLocks noGrp="1"/>
          </p:cNvSpPr>
          <p:nvPr/>
        </p:nvSpPr>
        <p:spPr>
          <a:xfrm>
            <a:off x="781050" y="2714625"/>
            <a:ext cx="66675" cy="1428750"/>
          </a:xfrm>
          <a:prstGeom prst="rect">
            <a:avLst/>
          </a:prstGeom>
          <a:solidFill>
            <a:srgbClr val="0055BB"/>
          </a:solidFill>
        </p:spPr>
        <p:txBody>
          <a:bodyPr/>
          <a:lstStyle/>
          <a:p>
            <a:endParaRPr lang="ru-R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D3D299-AFD9-4C4D-86F9-5D35F6D9DDA9}"/>
              </a:ext>
            </a:extLst>
          </p:cNvPr>
          <p:cNvSpPr>
            <a:spLocks noGrp="1"/>
          </p:cNvSpPr>
          <p:nvPr/>
        </p:nvSpPr>
        <p:spPr>
          <a:xfrm>
            <a:off x="990600" y="2867025"/>
            <a:ext cx="270510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532"/>
                </a:solidFill>
                <a:latin typeface="Arial"/>
                <a:ea typeface="Arial"/>
                <a:cs typeface="Arial"/>
              </a:rPr>
              <a:t>Рыночные ряды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70B4F5-3F25-4B3F-A676-ACAB91C26760}"/>
              </a:ext>
            </a:extLst>
          </p:cNvPr>
          <p:cNvSpPr>
            <a:spLocks noGrp="1"/>
          </p:cNvSpPr>
          <p:nvPr/>
        </p:nvSpPr>
        <p:spPr>
          <a:xfrm>
            <a:off x="990600" y="3228975"/>
            <a:ext cx="2705100" cy="81915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14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140">
                <a:solidFill>
                  <a:srgbClr val="5C6470"/>
                </a:solidFill>
                <a:latin typeface="Arial"/>
                <a:ea typeface="Arial"/>
                <a:cs typeface="Arial"/>
              </a:rPr>
              <a:t>Brent, WTI, волатильность, отраслевые индексы и лаговые зависимости задают количественный фон.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77296E-3489-4BAC-97DA-2A95B9C8990A}"/>
              </a:ext>
            </a:extLst>
          </p:cNvPr>
          <p:cNvSpPr>
            <a:spLocks noGrp="1"/>
          </p:cNvSpPr>
          <p:nvPr/>
        </p:nvSpPr>
        <p:spPr>
          <a:xfrm>
            <a:off x="4533900" y="2714625"/>
            <a:ext cx="310515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FBEBCE-0D49-4282-9EAA-7DBC0400A392}"/>
              </a:ext>
            </a:extLst>
          </p:cNvPr>
          <p:cNvSpPr>
            <a:spLocks noGrp="1"/>
          </p:cNvSpPr>
          <p:nvPr/>
        </p:nvSpPr>
        <p:spPr>
          <a:xfrm>
            <a:off x="4533900" y="2714625"/>
            <a:ext cx="66675" cy="1428750"/>
          </a:xfrm>
          <a:prstGeom prst="rect">
            <a:avLst/>
          </a:prstGeom>
          <a:solidFill>
            <a:srgbClr val="4C8E3F"/>
          </a:solidFill>
        </p:spPr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0CB661-CBFD-417F-973C-3AF5B9984312}"/>
              </a:ext>
            </a:extLst>
          </p:cNvPr>
          <p:cNvSpPr>
            <a:spLocks noGrp="1"/>
          </p:cNvSpPr>
          <p:nvPr/>
        </p:nvSpPr>
        <p:spPr>
          <a:xfrm>
            <a:off x="4743450" y="2867025"/>
            <a:ext cx="270510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532"/>
                </a:solidFill>
                <a:latin typeface="Arial"/>
                <a:ea typeface="Arial"/>
                <a:cs typeface="Arial"/>
              </a:rPr>
              <a:t>Новостной поток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D7AFBB-0746-4DE9-9718-4F6F13132AB8}"/>
              </a:ext>
            </a:extLst>
          </p:cNvPr>
          <p:cNvSpPr>
            <a:spLocks noGrp="1"/>
          </p:cNvSpPr>
          <p:nvPr/>
        </p:nvSpPr>
        <p:spPr>
          <a:xfrm>
            <a:off x="4743450" y="3228975"/>
            <a:ext cx="2705100" cy="81915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14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140">
                <a:solidFill>
                  <a:srgbClr val="5C6470"/>
                </a:solidFill>
                <a:latin typeface="Arial"/>
                <a:ea typeface="Arial"/>
                <a:cs typeface="Arial"/>
              </a:rPr>
              <a:t>Заголовки и сообщения несут тональность, события, неопределенность, источник и горизонт влияния.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2A803A0-6A72-471A-ABB5-12623A58C8D0}"/>
              </a:ext>
            </a:extLst>
          </p:cNvPr>
          <p:cNvSpPr>
            <a:spLocks noGrp="1"/>
          </p:cNvSpPr>
          <p:nvPr/>
        </p:nvSpPr>
        <p:spPr>
          <a:xfrm>
            <a:off x="8286750" y="2714625"/>
            <a:ext cx="310515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6766D5-2F1F-4EE3-A468-DF1F023F8E54}"/>
              </a:ext>
            </a:extLst>
          </p:cNvPr>
          <p:cNvSpPr>
            <a:spLocks noGrp="1"/>
          </p:cNvSpPr>
          <p:nvPr/>
        </p:nvSpPr>
        <p:spPr>
          <a:xfrm>
            <a:off x="8286750" y="2714625"/>
            <a:ext cx="66675" cy="1428750"/>
          </a:xfrm>
          <a:prstGeom prst="rect">
            <a:avLst/>
          </a:prstGeom>
          <a:solidFill>
            <a:srgbClr val="C89400"/>
          </a:solidFill>
        </p:spPr>
        <p:txBody>
          <a:bodyPr/>
          <a:lstStyle/>
          <a:p>
            <a:endParaRPr lang="ru-R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8CDB7C-1080-40AD-894B-054980BBE68E}"/>
              </a:ext>
            </a:extLst>
          </p:cNvPr>
          <p:cNvSpPr>
            <a:spLocks noGrp="1"/>
          </p:cNvSpPr>
          <p:nvPr/>
        </p:nvSpPr>
        <p:spPr>
          <a:xfrm>
            <a:off x="8496300" y="2867025"/>
            <a:ext cx="270510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532"/>
                </a:solidFill>
                <a:latin typeface="Arial"/>
                <a:ea typeface="Arial"/>
                <a:cs typeface="Arial"/>
              </a:rPr>
              <a:t>Исследовательский разрыв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EA7229-CD21-4930-B1AE-BDC3BC15684E}"/>
              </a:ext>
            </a:extLst>
          </p:cNvPr>
          <p:cNvSpPr>
            <a:spLocks noGrp="1"/>
          </p:cNvSpPr>
          <p:nvPr/>
        </p:nvSpPr>
        <p:spPr>
          <a:xfrm>
            <a:off x="8496300" y="3228975"/>
            <a:ext cx="2705100" cy="81915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14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140">
                <a:solidFill>
                  <a:srgbClr val="5C6470"/>
                </a:solidFill>
                <a:latin typeface="Arial"/>
                <a:ea typeface="Arial"/>
                <a:cs typeface="Arial"/>
              </a:rPr>
              <a:t>Нужно проверить, дает ли структурированная LLM-семантика измеримый прирост к статистическим baseline.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7CEEBDE-6D16-44E6-BD5E-C36F35DF2A25}"/>
              </a:ext>
            </a:extLst>
          </p:cNvPr>
          <p:cNvSpPr>
            <a:spLocks noGrp="1"/>
          </p:cNvSpPr>
          <p:nvPr/>
        </p:nvSpPr>
        <p:spPr>
          <a:xfrm>
            <a:off x="1143000" y="4905375"/>
            <a:ext cx="9906000" cy="800100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19050">
            <a:solidFill>
              <a:srgbClr val="0055B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8592D1-F27D-4B90-9D7D-0EAA8632F5FB}"/>
              </a:ext>
            </a:extLst>
          </p:cNvPr>
          <p:cNvSpPr>
            <a:spLocks noGrp="1"/>
          </p:cNvSpPr>
          <p:nvPr/>
        </p:nvSpPr>
        <p:spPr>
          <a:xfrm>
            <a:off x="1314450" y="5038725"/>
            <a:ext cx="9563100" cy="5334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>
                <a:solidFill>
                  <a:srgbClr val="2025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202532"/>
                </a:solidFill>
                <a:latin typeface="Times New Roman"/>
                <a:ea typeface="Times New Roman"/>
                <a:cs typeface="Times New Roman"/>
              </a:rPr>
              <a:t>Уникальность работы - не в замене статистических моделей LLM, а в честном сопоставлении рыночных и LLM-признаков в одном воспроизводимом контуре.</a:t>
            </a:r>
          </a:p>
        </p:txBody>
      </p:sp>
    </p:spTree>
    <p:extLst>
      <p:ext uri="{BB962C8B-B14F-4D97-AF65-F5344CB8AC3E}">
        <p14:creationId xmlns:p14="http://schemas.microsoft.com/office/powerpoint/2010/main" val="2125266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009E0C3-DADB-4B4A-B7DF-0D9D6A3EA0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055BB"/>
          </a:solidFill>
        </p:spPr>
        <p:txBody>
          <a:bodyPr/>
          <a:lstStyle/>
          <a:p>
            <a:endParaRPr lang="ru-RU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10750" y="232064"/>
            <a:ext cx="1771650" cy="6979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992BB59-615C-4EF0-818E-40DA16CB4A91}"/>
              </a:ext>
            </a:extLst>
          </p:cNvPr>
          <p:cNvSpPr>
            <a:spLocks noGrp="1"/>
          </p:cNvSpPr>
          <p:nvPr/>
        </p:nvSpPr>
        <p:spPr>
          <a:xfrm>
            <a:off x="647700" y="352425"/>
            <a:ext cx="8286750" cy="552450"/>
          </a:xfrm>
          <a:prstGeom prst="rect">
            <a:avLst/>
          </a:prstGeom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27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Цель и задачи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6675D0-A566-4510-A0F0-88BE40E79F0C}"/>
              </a:ext>
            </a:extLst>
          </p:cNvPr>
          <p:cNvSpPr>
            <a:spLocks noGrp="1"/>
          </p:cNvSpPr>
          <p:nvPr/>
        </p:nvSpPr>
        <p:spPr>
          <a:xfrm>
            <a:off x="11696700" y="6419850"/>
            <a:ext cx="266700" cy="2286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88888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386CCF-DEF8-4383-AE31-D691AD96D217}"/>
              </a:ext>
            </a:extLst>
          </p:cNvPr>
          <p:cNvSpPr>
            <a:spLocks noGrp="1"/>
          </p:cNvSpPr>
          <p:nvPr/>
        </p:nvSpPr>
        <p:spPr>
          <a:xfrm>
            <a:off x="742950" y="1581150"/>
            <a:ext cx="209550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8409" lnSpcReduction="10000"/>
          </a:bodyPr>
          <a:lstStyle/>
          <a:p>
            <a:pPr algn="l">
              <a:defRPr sz="1650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55BB"/>
                </a:solidFill>
                <a:latin typeface="Arial"/>
                <a:ea typeface="Arial"/>
                <a:cs typeface="Arial"/>
              </a:rPr>
              <a:t>Цель работы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7F9692-19D3-46F8-A030-C5EC3DB855F9}"/>
              </a:ext>
            </a:extLst>
          </p:cNvPr>
          <p:cNvSpPr>
            <a:spLocks noGrp="1"/>
          </p:cNvSpPr>
          <p:nvPr/>
        </p:nvSpPr>
        <p:spPr>
          <a:xfrm>
            <a:off x="742950" y="1885950"/>
            <a:ext cx="10191750" cy="59055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725">
                <a:solidFill>
                  <a:srgbClr val="2025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202532"/>
                </a:solidFill>
                <a:latin typeface="Times New Roman"/>
                <a:ea typeface="Times New Roman"/>
                <a:cs typeface="Times New Roman"/>
              </a:rPr>
              <a:t>исследовать эффективность прогнозирования динамики нефтегазового рынка при сравнении многоагентной LLM-архитектуры с традиционными статистическими методами.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9D3B31E-ADF4-4882-95E1-9C61FCCFFC7F}"/>
              </a:ext>
            </a:extLst>
          </p:cNvPr>
          <p:cNvSpPr>
            <a:spLocks noGrp="1"/>
          </p:cNvSpPr>
          <p:nvPr/>
        </p:nvSpPr>
        <p:spPr>
          <a:xfrm>
            <a:off x="781050" y="3000375"/>
            <a:ext cx="9906000" cy="514350"/>
          </a:xfrm>
          <a:prstGeom prst="roundRect">
            <a:avLst>
              <a:gd name="adj" fmla="val 7407"/>
            </a:avLst>
          </a:prstGeom>
          <a:solidFill>
            <a:srgbClr val="F6F8FB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0FA2A8-9D68-408A-B6FD-2BBC5426B1D9}"/>
              </a:ext>
            </a:extLst>
          </p:cNvPr>
          <p:cNvSpPr>
            <a:spLocks noGrp="1"/>
          </p:cNvSpPr>
          <p:nvPr/>
        </p:nvSpPr>
        <p:spPr>
          <a:xfrm>
            <a:off x="990600" y="3095625"/>
            <a:ext cx="342900" cy="28575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8485"/>
          </a:bodyPr>
          <a:lstStyle/>
          <a:p>
            <a:pPr algn="ctr">
              <a:defRPr sz="1650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55B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341B9A-0DE6-487F-8BFF-326F6417F2A5}"/>
              </a:ext>
            </a:extLst>
          </p:cNvPr>
          <p:cNvSpPr>
            <a:spLocks noGrp="1"/>
          </p:cNvSpPr>
          <p:nvPr/>
        </p:nvSpPr>
        <p:spPr>
          <a:xfrm>
            <a:off x="1619250" y="3114675"/>
            <a:ext cx="342900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532"/>
                </a:solidFill>
                <a:latin typeface="Arial"/>
                <a:ea typeface="Arial"/>
                <a:cs typeface="Arial"/>
              </a:rPr>
              <a:t>Разработать архитектуру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6BBC58-2A0A-45E3-9BCB-D56DD3A6B5F5}"/>
              </a:ext>
            </a:extLst>
          </p:cNvPr>
          <p:cNvSpPr>
            <a:spLocks noGrp="1"/>
          </p:cNvSpPr>
          <p:nvPr/>
        </p:nvSpPr>
        <p:spPr>
          <a:xfrm>
            <a:off x="5334000" y="3114675"/>
            <a:ext cx="495300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C6470"/>
                </a:solidFill>
                <a:latin typeface="Arial"/>
                <a:ea typeface="Arial"/>
                <a:cs typeface="Arial"/>
              </a:rPr>
              <a:t>специализация агентов, оркестратор, контур контроля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774A1BE-885E-4B23-B657-FE0B4D4658D6}"/>
              </a:ext>
            </a:extLst>
          </p:cNvPr>
          <p:cNvSpPr>
            <a:spLocks noGrp="1"/>
          </p:cNvSpPr>
          <p:nvPr/>
        </p:nvSpPr>
        <p:spPr>
          <a:xfrm>
            <a:off x="781050" y="3686175"/>
            <a:ext cx="9906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3D8C59-9B27-4304-896B-F71B90039040}"/>
              </a:ext>
            </a:extLst>
          </p:cNvPr>
          <p:cNvSpPr>
            <a:spLocks noGrp="1"/>
          </p:cNvSpPr>
          <p:nvPr/>
        </p:nvSpPr>
        <p:spPr>
          <a:xfrm>
            <a:off x="990600" y="3781425"/>
            <a:ext cx="342900" cy="28575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8485"/>
          </a:bodyPr>
          <a:lstStyle/>
          <a:p>
            <a:pPr algn="ctr">
              <a:defRPr sz="1650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55B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4A29F5-8420-4DFB-8DE7-9029DD185BDD}"/>
              </a:ext>
            </a:extLst>
          </p:cNvPr>
          <p:cNvSpPr>
            <a:spLocks noGrp="1"/>
          </p:cNvSpPr>
          <p:nvPr/>
        </p:nvSpPr>
        <p:spPr>
          <a:xfrm>
            <a:off x="1619250" y="3800475"/>
            <a:ext cx="342900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532"/>
                </a:solidFill>
                <a:latin typeface="Arial"/>
                <a:ea typeface="Arial"/>
                <a:cs typeface="Arial"/>
              </a:rPr>
              <a:t>Оценить характеристики новостей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EF6F65-4031-4FE0-A127-6B125964F516}"/>
              </a:ext>
            </a:extLst>
          </p:cNvPr>
          <p:cNvSpPr>
            <a:spLocks noGrp="1"/>
          </p:cNvSpPr>
          <p:nvPr/>
        </p:nvSpPr>
        <p:spPr>
          <a:xfrm>
            <a:off x="5334000" y="3800475"/>
            <a:ext cx="495300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C6470"/>
                </a:solidFill>
                <a:latin typeface="Arial"/>
                <a:ea typeface="Arial"/>
                <a:cs typeface="Arial"/>
              </a:rPr>
              <a:t>тональность, интенсивность, тема, лаги, источник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EE314D8-EB67-49F6-B68A-DD4A5F59AADD}"/>
              </a:ext>
            </a:extLst>
          </p:cNvPr>
          <p:cNvSpPr>
            <a:spLocks noGrp="1"/>
          </p:cNvSpPr>
          <p:nvPr/>
        </p:nvSpPr>
        <p:spPr>
          <a:xfrm>
            <a:off x="781050" y="4371975"/>
            <a:ext cx="9906000" cy="514350"/>
          </a:xfrm>
          <a:prstGeom prst="roundRect">
            <a:avLst>
              <a:gd name="adj" fmla="val 7407"/>
            </a:avLst>
          </a:prstGeom>
          <a:solidFill>
            <a:srgbClr val="F6F8FB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9D1F01-B573-4ED5-A39C-1E4BF84E273E}"/>
              </a:ext>
            </a:extLst>
          </p:cNvPr>
          <p:cNvSpPr>
            <a:spLocks noGrp="1"/>
          </p:cNvSpPr>
          <p:nvPr/>
        </p:nvSpPr>
        <p:spPr>
          <a:xfrm>
            <a:off x="990600" y="4467225"/>
            <a:ext cx="342900" cy="28575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8485"/>
          </a:bodyPr>
          <a:lstStyle/>
          <a:p>
            <a:pPr algn="ctr">
              <a:defRPr sz="1650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55B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CF0E0D-2DD1-4E10-80DA-1F50DB42EFAB}"/>
              </a:ext>
            </a:extLst>
          </p:cNvPr>
          <p:cNvSpPr>
            <a:spLocks noGrp="1"/>
          </p:cNvSpPr>
          <p:nvPr/>
        </p:nvSpPr>
        <p:spPr>
          <a:xfrm>
            <a:off x="1619250" y="4486275"/>
            <a:ext cx="342900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532"/>
                </a:solidFill>
                <a:latin typeface="Arial"/>
                <a:ea typeface="Arial"/>
                <a:cs typeface="Arial"/>
              </a:rPr>
              <a:t>Обосновать baseline-методы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E3E724-1FB3-498E-8C4C-BFBE15173D99}"/>
              </a:ext>
            </a:extLst>
          </p:cNvPr>
          <p:cNvSpPr>
            <a:spLocks noGrp="1"/>
          </p:cNvSpPr>
          <p:nvPr/>
        </p:nvSpPr>
        <p:spPr>
          <a:xfrm>
            <a:off x="5334000" y="4486275"/>
            <a:ext cx="495300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C6470"/>
                </a:solidFill>
                <a:latin typeface="Arial"/>
                <a:ea typeface="Arial"/>
                <a:cs typeface="Arial"/>
              </a:rPr>
              <a:t>ARIMAX, GARCH, VAR/VARX и market-only модели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92DD79B-6383-495E-B471-7C859124D4F0}"/>
              </a:ext>
            </a:extLst>
          </p:cNvPr>
          <p:cNvSpPr>
            <a:spLocks noGrp="1"/>
          </p:cNvSpPr>
          <p:nvPr/>
        </p:nvSpPr>
        <p:spPr>
          <a:xfrm>
            <a:off x="781050" y="5057775"/>
            <a:ext cx="9906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C5527E-F8BF-4E06-B1E7-C2CE7DD7B5D6}"/>
              </a:ext>
            </a:extLst>
          </p:cNvPr>
          <p:cNvSpPr>
            <a:spLocks noGrp="1"/>
          </p:cNvSpPr>
          <p:nvPr/>
        </p:nvSpPr>
        <p:spPr>
          <a:xfrm>
            <a:off x="990600" y="5153025"/>
            <a:ext cx="342900" cy="28575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8485"/>
          </a:bodyPr>
          <a:lstStyle/>
          <a:p>
            <a:pPr algn="ctr">
              <a:defRPr sz="1650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55B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354095-E432-4CB5-A1FB-0E7C520467C9}"/>
              </a:ext>
            </a:extLst>
          </p:cNvPr>
          <p:cNvSpPr>
            <a:spLocks noGrp="1"/>
          </p:cNvSpPr>
          <p:nvPr/>
        </p:nvSpPr>
        <p:spPr>
          <a:xfrm>
            <a:off x="1619250" y="5172075"/>
            <a:ext cx="342900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532"/>
                </a:solidFill>
                <a:latin typeface="Arial"/>
                <a:ea typeface="Arial"/>
                <a:cs typeface="Arial"/>
              </a:rPr>
              <a:t>Собрать экспериментальный контур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C5E372-0395-4993-AED4-C5FFE1A4E2C8}"/>
              </a:ext>
            </a:extLst>
          </p:cNvPr>
          <p:cNvSpPr>
            <a:spLocks noGrp="1"/>
          </p:cNvSpPr>
          <p:nvPr/>
        </p:nvSpPr>
        <p:spPr>
          <a:xfrm>
            <a:off x="5334000" y="5172075"/>
            <a:ext cx="495300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C6470"/>
                </a:solidFill>
                <a:latin typeface="Arial"/>
                <a:ea typeface="Arial"/>
                <a:cs typeface="Arial"/>
              </a:rPr>
              <a:t>rolling-валидация, метрики, абляции, статистические тесты</a:t>
            </a:r>
          </a:p>
        </p:txBody>
      </p:sp>
    </p:spTree>
    <p:extLst>
      <p:ext uri="{BB962C8B-B14F-4D97-AF65-F5344CB8AC3E}">
        <p14:creationId xmlns:p14="http://schemas.microsoft.com/office/powerpoint/2010/main" val="1162981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FA23C33-BEEF-4CFE-A5B9-8B3658F7E3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055BB"/>
          </a:solidFill>
        </p:spPr>
        <p:txBody>
          <a:bodyPr/>
          <a:lstStyle/>
          <a:p>
            <a:endParaRPr lang="ru-RU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10750" y="232064"/>
            <a:ext cx="1771650" cy="6979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AD5B4C3-6C54-450E-AB28-484A40FA019F}"/>
              </a:ext>
            </a:extLst>
          </p:cNvPr>
          <p:cNvSpPr>
            <a:spLocks noGrp="1"/>
          </p:cNvSpPr>
          <p:nvPr/>
        </p:nvSpPr>
        <p:spPr>
          <a:xfrm>
            <a:off x="647700" y="352425"/>
            <a:ext cx="8286750" cy="552450"/>
          </a:xfrm>
          <a:prstGeom prst="rect">
            <a:avLst/>
          </a:prstGeom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27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Задача 1: архитектура многоагентной системы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B4A3FC-92A4-4387-A786-6438642043F1}"/>
              </a:ext>
            </a:extLst>
          </p:cNvPr>
          <p:cNvSpPr>
            <a:spLocks noGrp="1"/>
          </p:cNvSpPr>
          <p:nvPr/>
        </p:nvSpPr>
        <p:spPr>
          <a:xfrm>
            <a:off x="11696700" y="6419850"/>
            <a:ext cx="266700" cy="2286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88888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D6373F-FE24-42FB-932E-797F85A1418D}"/>
              </a:ext>
            </a:extLst>
          </p:cNvPr>
          <p:cNvSpPr>
            <a:spLocks noGrp="1"/>
          </p:cNvSpPr>
          <p:nvPr/>
        </p:nvSpPr>
        <p:spPr>
          <a:xfrm>
            <a:off x="523875" y="1571625"/>
            <a:ext cx="7753350" cy="39243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84246" y="1581150"/>
            <a:ext cx="7032609" cy="39052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0FDC4A7-77D9-4EB3-9A31-C1A55F524267}"/>
              </a:ext>
            </a:extLst>
          </p:cNvPr>
          <p:cNvSpPr>
            <a:spLocks noGrp="1"/>
          </p:cNvSpPr>
          <p:nvPr/>
        </p:nvSpPr>
        <p:spPr>
          <a:xfrm>
            <a:off x="8667750" y="1581150"/>
            <a:ext cx="2571750" cy="3429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81157" lnSpcReduction="10000"/>
          </a:bodyPr>
          <a:lstStyle/>
          <a:p>
            <a:pPr algn="l">
              <a:defRPr sz="1650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55BB"/>
                </a:solidFill>
                <a:latin typeface="Arial"/>
                <a:ea typeface="Arial"/>
                <a:cs typeface="Arial"/>
              </a:rPr>
              <a:t>Что закрывает архитектура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F4BF48-C3D9-4CAC-B468-FE17A3319C48}"/>
              </a:ext>
            </a:extLst>
          </p:cNvPr>
          <p:cNvSpPr>
            <a:spLocks noGrp="1"/>
          </p:cNvSpPr>
          <p:nvPr/>
        </p:nvSpPr>
        <p:spPr>
          <a:xfrm>
            <a:off x="8667750" y="2114550"/>
            <a:ext cx="22860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5B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A72E33-36BE-42BA-905E-72EC3553B801}"/>
              </a:ext>
            </a:extLst>
          </p:cNvPr>
          <p:cNvSpPr>
            <a:spLocks noGrp="1"/>
          </p:cNvSpPr>
          <p:nvPr/>
        </p:nvSpPr>
        <p:spPr>
          <a:xfrm>
            <a:off x="8972550" y="2095500"/>
            <a:ext cx="2409825" cy="5715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532"/>
                </a:solidFill>
                <a:latin typeface="Arial"/>
                <a:ea typeface="Arial"/>
                <a:cs typeface="Arial"/>
              </a:rPr>
              <a:t>разделение рыночных, новостных и LLM-функций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8570EE-F06A-4A4E-AA97-FBE04056DEE0}"/>
              </a:ext>
            </a:extLst>
          </p:cNvPr>
          <p:cNvSpPr>
            <a:spLocks noGrp="1"/>
          </p:cNvSpPr>
          <p:nvPr/>
        </p:nvSpPr>
        <p:spPr>
          <a:xfrm>
            <a:off x="8667750" y="2924175"/>
            <a:ext cx="22860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5B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D3FB7C-F939-4C87-BECB-04801C0269EC}"/>
              </a:ext>
            </a:extLst>
          </p:cNvPr>
          <p:cNvSpPr>
            <a:spLocks noGrp="1"/>
          </p:cNvSpPr>
          <p:nvPr/>
        </p:nvSpPr>
        <p:spPr>
          <a:xfrm>
            <a:off x="8972550" y="2905125"/>
            <a:ext cx="2409825" cy="55245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532"/>
                </a:solidFill>
                <a:latin typeface="Arial"/>
                <a:ea typeface="Arial"/>
                <a:cs typeface="Arial"/>
              </a:rPr>
              <a:t>явная маршрутизация событий через оркестратор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A1E5DE-4B3B-41B1-8591-646109BA485D}"/>
              </a:ext>
            </a:extLst>
          </p:cNvPr>
          <p:cNvSpPr>
            <a:spLocks noGrp="1"/>
          </p:cNvSpPr>
          <p:nvPr/>
        </p:nvSpPr>
        <p:spPr>
          <a:xfrm>
            <a:off x="8667750" y="3714750"/>
            <a:ext cx="22860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5B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FEBA4A-1020-47E0-A317-CD963805D300}"/>
              </a:ext>
            </a:extLst>
          </p:cNvPr>
          <p:cNvSpPr>
            <a:spLocks noGrp="1"/>
          </p:cNvSpPr>
          <p:nvPr/>
        </p:nvSpPr>
        <p:spPr>
          <a:xfrm>
            <a:off x="8972550" y="3695700"/>
            <a:ext cx="2409825" cy="55245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02532"/>
                </a:solidFill>
                <a:latin typeface="Arial"/>
                <a:ea typeface="Arial"/>
                <a:cs typeface="Arial"/>
              </a:rPr>
              <a:t>контроль JSON-схемы и резервные правила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304D1AA-9FF6-4C2D-B376-AD3AA59B4F3B}"/>
              </a:ext>
            </a:extLst>
          </p:cNvPr>
          <p:cNvSpPr>
            <a:spLocks noGrp="1"/>
          </p:cNvSpPr>
          <p:nvPr/>
        </p:nvSpPr>
        <p:spPr>
          <a:xfrm>
            <a:off x="8667750" y="4686300"/>
            <a:ext cx="2762250" cy="971550"/>
          </a:xfrm>
          <a:prstGeom prst="roundRect">
            <a:avLst>
              <a:gd name="adj" fmla="val 5882"/>
            </a:avLst>
          </a:prstGeom>
          <a:solidFill>
            <a:srgbClr val="F6F8FB"/>
          </a:solidFill>
          <a:ln w="19050">
            <a:solidFill>
              <a:srgbClr val="4C8E3F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F2C7E4-CA13-4915-8287-AC5FEAB2BB60}"/>
              </a:ext>
            </a:extLst>
          </p:cNvPr>
          <p:cNvSpPr>
            <a:spLocks noGrp="1"/>
          </p:cNvSpPr>
          <p:nvPr/>
        </p:nvSpPr>
        <p:spPr>
          <a:xfrm>
            <a:off x="8839200" y="4819650"/>
            <a:ext cx="2419350" cy="70485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81018" lnSpcReduction="10000"/>
          </a:bodyPr>
          <a:lstStyle/>
          <a:p>
            <a:pPr algn="l">
              <a:defRPr sz="1350">
                <a:solidFill>
                  <a:srgbClr val="2025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202532"/>
                </a:solidFill>
                <a:latin typeface="Times New Roman"/>
                <a:ea typeface="Times New Roman"/>
                <a:cs typeface="Times New Roman"/>
              </a:rPr>
              <a:t>Результат задачи: LLM используется как семантический агент, а не как непрозрачная модель, заменяющая весь прогнозный контур.</a:t>
            </a:r>
          </a:p>
        </p:txBody>
      </p:sp>
    </p:spTree>
    <p:extLst>
      <p:ext uri="{BB962C8B-B14F-4D97-AF65-F5344CB8AC3E}">
        <p14:creationId xmlns:p14="http://schemas.microsoft.com/office/powerpoint/2010/main" val="275453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C0F0E515-022E-43B7-8E33-2B0AECD67E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055BB"/>
          </a:solidFill>
        </p:spPr>
        <p:txBody>
          <a:bodyPr/>
          <a:lstStyle/>
          <a:p>
            <a:endParaRPr lang="ru-RU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10750" y="232064"/>
            <a:ext cx="1771650" cy="6979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7D6653B-10CB-4053-AD10-F78B01CAF6FD}"/>
              </a:ext>
            </a:extLst>
          </p:cNvPr>
          <p:cNvSpPr>
            <a:spLocks noGrp="1"/>
          </p:cNvSpPr>
          <p:nvPr/>
        </p:nvSpPr>
        <p:spPr>
          <a:xfrm>
            <a:off x="647700" y="352425"/>
            <a:ext cx="8286750" cy="552450"/>
          </a:xfrm>
          <a:prstGeom prst="rect">
            <a:avLst/>
          </a:prstGeom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27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Задача 2: признаки новостного потока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344037-1239-45D2-8302-4C513FCD648B}"/>
              </a:ext>
            </a:extLst>
          </p:cNvPr>
          <p:cNvSpPr>
            <a:spLocks noGrp="1"/>
          </p:cNvSpPr>
          <p:nvPr/>
        </p:nvSpPr>
        <p:spPr>
          <a:xfrm>
            <a:off x="11696700" y="6419850"/>
            <a:ext cx="266700" cy="2286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88888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C64F9E-5519-41FC-B813-13B566875862}"/>
              </a:ext>
            </a:extLst>
          </p:cNvPr>
          <p:cNvSpPr>
            <a:spLocks noGrp="1"/>
          </p:cNvSpPr>
          <p:nvPr/>
        </p:nvSpPr>
        <p:spPr>
          <a:xfrm>
            <a:off x="742950" y="1524000"/>
            <a:ext cx="10001250" cy="47625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1998"/>
          </a:bodyPr>
          <a:lstStyle/>
          <a:p>
            <a:pPr algn="l">
              <a:defRPr sz="2100">
                <a:solidFill>
                  <a:srgbClr val="2025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202532"/>
                </a:solidFill>
                <a:latin typeface="Times New Roman"/>
                <a:ea typeface="Times New Roman"/>
                <a:cs typeface="Times New Roman"/>
              </a:rPr>
              <a:t>Новость превращается в структурированный фактор, доступный для статистической проверки.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19AD9A-B4B9-4992-A8D1-4AD230747499}"/>
              </a:ext>
            </a:extLst>
          </p:cNvPr>
          <p:cNvSpPr>
            <a:spLocks noGrp="1"/>
          </p:cNvSpPr>
          <p:nvPr/>
        </p:nvSpPr>
        <p:spPr>
          <a:xfrm>
            <a:off x="800100" y="2514600"/>
            <a:ext cx="23241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30505B-42C2-465F-82A1-0F624AF0690A}"/>
              </a:ext>
            </a:extLst>
          </p:cNvPr>
          <p:cNvSpPr>
            <a:spLocks noGrp="1"/>
          </p:cNvSpPr>
          <p:nvPr/>
        </p:nvSpPr>
        <p:spPr>
          <a:xfrm>
            <a:off x="933450" y="2638425"/>
            <a:ext cx="2057400" cy="2286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2593" lnSpcReduction="10000"/>
          </a:bodyPr>
          <a:lstStyle/>
          <a:p>
            <a:pPr algn="l">
              <a:defRPr sz="1350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5BB"/>
                </a:solidFill>
                <a:latin typeface="Arial"/>
                <a:ea typeface="Arial"/>
                <a:cs typeface="Arial"/>
              </a:rPr>
              <a:t>sentiment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447E41-F59A-46F7-9401-85F16A562749}"/>
              </a:ext>
            </a:extLst>
          </p:cNvPr>
          <p:cNvSpPr>
            <a:spLocks noGrp="1"/>
          </p:cNvSpPr>
          <p:nvPr/>
        </p:nvSpPr>
        <p:spPr>
          <a:xfrm>
            <a:off x="933450" y="2924175"/>
            <a:ext cx="2057400" cy="24765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163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5C6470"/>
                </a:solidFill>
                <a:latin typeface="Arial"/>
                <a:ea typeface="Arial"/>
                <a:cs typeface="Arial"/>
              </a:rPr>
              <a:t>направление воздействия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20C3E7E-1C75-4E88-9188-D870C572F447}"/>
              </a:ext>
            </a:extLst>
          </p:cNvPr>
          <p:cNvSpPr>
            <a:spLocks noGrp="1"/>
          </p:cNvSpPr>
          <p:nvPr/>
        </p:nvSpPr>
        <p:spPr>
          <a:xfrm>
            <a:off x="3524250" y="2514600"/>
            <a:ext cx="23241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9F6984-0065-426D-A079-66146EE0062C}"/>
              </a:ext>
            </a:extLst>
          </p:cNvPr>
          <p:cNvSpPr>
            <a:spLocks noGrp="1"/>
          </p:cNvSpPr>
          <p:nvPr/>
        </p:nvSpPr>
        <p:spPr>
          <a:xfrm>
            <a:off x="3657600" y="2638425"/>
            <a:ext cx="2057400" cy="2286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2593" lnSpcReduction="10000"/>
          </a:bodyPr>
          <a:lstStyle/>
          <a:p>
            <a:pPr algn="l">
              <a:defRPr sz="1350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5BB"/>
                </a:solidFill>
                <a:latin typeface="Arial"/>
                <a:ea typeface="Arial"/>
                <a:cs typeface="Arial"/>
              </a:rPr>
              <a:t>relevance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489AEF-FC7B-4AB4-BCBD-D5BD57215C94}"/>
              </a:ext>
            </a:extLst>
          </p:cNvPr>
          <p:cNvSpPr>
            <a:spLocks noGrp="1"/>
          </p:cNvSpPr>
          <p:nvPr/>
        </p:nvSpPr>
        <p:spPr>
          <a:xfrm>
            <a:off x="3657600" y="2924175"/>
            <a:ext cx="2057400" cy="24765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163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5C6470"/>
                </a:solidFill>
                <a:latin typeface="Arial"/>
                <a:ea typeface="Arial"/>
                <a:cs typeface="Arial"/>
              </a:rPr>
              <a:t>значимость для рынка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CA98BB-7B37-4733-96DF-5D7FC079C494}"/>
              </a:ext>
            </a:extLst>
          </p:cNvPr>
          <p:cNvSpPr>
            <a:spLocks noGrp="1"/>
          </p:cNvSpPr>
          <p:nvPr/>
        </p:nvSpPr>
        <p:spPr>
          <a:xfrm>
            <a:off x="6248400" y="2514600"/>
            <a:ext cx="23241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B8746C-8D14-44C0-9DAC-F2BA22A57981}"/>
              </a:ext>
            </a:extLst>
          </p:cNvPr>
          <p:cNvSpPr>
            <a:spLocks noGrp="1"/>
          </p:cNvSpPr>
          <p:nvPr/>
        </p:nvSpPr>
        <p:spPr>
          <a:xfrm>
            <a:off x="6381750" y="2638425"/>
            <a:ext cx="2057400" cy="2286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2593" lnSpcReduction="10000"/>
          </a:bodyPr>
          <a:lstStyle/>
          <a:p>
            <a:pPr algn="l">
              <a:defRPr sz="1350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5BB"/>
                </a:solidFill>
                <a:latin typeface="Arial"/>
                <a:ea typeface="Arial"/>
                <a:cs typeface="Arial"/>
              </a:rPr>
              <a:t>uncertainty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C65E6D-0EFD-4B04-BF3C-91FEA7ABCA14}"/>
              </a:ext>
            </a:extLst>
          </p:cNvPr>
          <p:cNvSpPr>
            <a:spLocks noGrp="1"/>
          </p:cNvSpPr>
          <p:nvPr/>
        </p:nvSpPr>
        <p:spPr>
          <a:xfrm>
            <a:off x="6381750" y="2924175"/>
            <a:ext cx="2057400" cy="24765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163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5C6470"/>
                </a:solidFill>
                <a:latin typeface="Arial"/>
                <a:ea typeface="Arial"/>
                <a:cs typeface="Arial"/>
              </a:rPr>
              <a:t>неопределенность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D571FF1-E6B9-46CC-8C1E-76E51369BBA8}"/>
              </a:ext>
            </a:extLst>
          </p:cNvPr>
          <p:cNvSpPr>
            <a:spLocks noGrp="1"/>
          </p:cNvSpPr>
          <p:nvPr/>
        </p:nvSpPr>
        <p:spPr>
          <a:xfrm>
            <a:off x="8972550" y="2514600"/>
            <a:ext cx="23241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8FB3AC-BF76-4A83-9964-4645E46564CA}"/>
              </a:ext>
            </a:extLst>
          </p:cNvPr>
          <p:cNvSpPr>
            <a:spLocks noGrp="1"/>
          </p:cNvSpPr>
          <p:nvPr/>
        </p:nvSpPr>
        <p:spPr>
          <a:xfrm>
            <a:off x="9105900" y="2638425"/>
            <a:ext cx="2057400" cy="2286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2593" lnSpcReduction="10000"/>
          </a:bodyPr>
          <a:lstStyle/>
          <a:p>
            <a:pPr algn="l">
              <a:defRPr sz="1350">
                <a:solidFill>
                  <a:srgbClr val="4C8E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8E3F"/>
                </a:solidFill>
                <a:latin typeface="Arial"/>
                <a:ea typeface="Arial"/>
                <a:cs typeface="Arial"/>
              </a:rPr>
              <a:t>topic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AD01A2-8AF3-45D1-BA34-4F1E1CC14C78}"/>
              </a:ext>
            </a:extLst>
          </p:cNvPr>
          <p:cNvSpPr>
            <a:spLocks noGrp="1"/>
          </p:cNvSpPr>
          <p:nvPr/>
        </p:nvSpPr>
        <p:spPr>
          <a:xfrm>
            <a:off x="9105900" y="2924175"/>
            <a:ext cx="2057400" cy="24765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163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5C6470"/>
                </a:solidFill>
                <a:latin typeface="Arial"/>
                <a:ea typeface="Arial"/>
                <a:cs typeface="Arial"/>
              </a:rPr>
              <a:t>тематический класс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E198D34-921D-4EC3-889A-9E870792A526}"/>
              </a:ext>
            </a:extLst>
          </p:cNvPr>
          <p:cNvSpPr>
            <a:spLocks noGrp="1"/>
          </p:cNvSpPr>
          <p:nvPr/>
        </p:nvSpPr>
        <p:spPr>
          <a:xfrm>
            <a:off x="800100" y="3619500"/>
            <a:ext cx="23241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C361D5-5232-4721-844F-1C9E6B7E9F10}"/>
              </a:ext>
            </a:extLst>
          </p:cNvPr>
          <p:cNvSpPr>
            <a:spLocks noGrp="1"/>
          </p:cNvSpPr>
          <p:nvPr/>
        </p:nvSpPr>
        <p:spPr>
          <a:xfrm>
            <a:off x="933450" y="3743325"/>
            <a:ext cx="2057400" cy="2286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2593" lnSpcReduction="10000"/>
          </a:bodyPr>
          <a:lstStyle/>
          <a:p>
            <a:pPr algn="l">
              <a:defRPr sz="1350">
                <a:solidFill>
                  <a:srgbClr val="4C8E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8E3F"/>
                </a:solidFill>
                <a:latin typeface="Arial"/>
                <a:ea typeface="Arial"/>
                <a:cs typeface="Arial"/>
              </a:rPr>
              <a:t>event_type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3CCD90-188C-41F0-B18D-2406F1C2532F}"/>
              </a:ext>
            </a:extLst>
          </p:cNvPr>
          <p:cNvSpPr>
            <a:spLocks noGrp="1"/>
          </p:cNvSpPr>
          <p:nvPr/>
        </p:nvSpPr>
        <p:spPr>
          <a:xfrm>
            <a:off x="933450" y="4029075"/>
            <a:ext cx="2057400" cy="24765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163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5C6470"/>
                </a:solidFill>
                <a:latin typeface="Arial"/>
                <a:ea typeface="Arial"/>
                <a:cs typeface="Arial"/>
              </a:rPr>
              <a:t>тип события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C7ACB40-71A4-4C50-A638-9F4C317EEE95}"/>
              </a:ext>
            </a:extLst>
          </p:cNvPr>
          <p:cNvSpPr>
            <a:spLocks noGrp="1"/>
          </p:cNvSpPr>
          <p:nvPr/>
        </p:nvSpPr>
        <p:spPr>
          <a:xfrm>
            <a:off x="3524250" y="3619500"/>
            <a:ext cx="23241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6622A7-95A0-4D1C-AEB6-FC8833C97B8D}"/>
              </a:ext>
            </a:extLst>
          </p:cNvPr>
          <p:cNvSpPr>
            <a:spLocks noGrp="1"/>
          </p:cNvSpPr>
          <p:nvPr/>
        </p:nvSpPr>
        <p:spPr>
          <a:xfrm>
            <a:off x="3657600" y="3743325"/>
            <a:ext cx="2057400" cy="2286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2593" lnSpcReduction="10000"/>
          </a:bodyPr>
          <a:lstStyle/>
          <a:p>
            <a:pPr algn="l">
              <a:defRPr sz="1350">
                <a:solidFill>
                  <a:srgbClr val="4C8E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8E3F"/>
                </a:solidFill>
                <a:latin typeface="Arial"/>
                <a:ea typeface="Arial"/>
                <a:cs typeface="Arial"/>
              </a:rPr>
              <a:t>horizon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8F2B63-57B6-4E3E-B754-C470E310B577}"/>
              </a:ext>
            </a:extLst>
          </p:cNvPr>
          <p:cNvSpPr>
            <a:spLocks noGrp="1"/>
          </p:cNvSpPr>
          <p:nvPr/>
        </p:nvSpPr>
        <p:spPr>
          <a:xfrm>
            <a:off x="3657600" y="4029075"/>
            <a:ext cx="2057400" cy="24765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163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5C6470"/>
                </a:solidFill>
                <a:latin typeface="Arial"/>
                <a:ea typeface="Arial"/>
                <a:cs typeface="Arial"/>
              </a:rPr>
              <a:t>горизонт эффекта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6DC3DCE-3F8B-4977-9D71-F5B068339758}"/>
              </a:ext>
            </a:extLst>
          </p:cNvPr>
          <p:cNvSpPr>
            <a:spLocks noGrp="1"/>
          </p:cNvSpPr>
          <p:nvPr/>
        </p:nvSpPr>
        <p:spPr>
          <a:xfrm>
            <a:off x="6248400" y="3619500"/>
            <a:ext cx="23241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338232-B86F-4316-AAD3-577CC779244C}"/>
              </a:ext>
            </a:extLst>
          </p:cNvPr>
          <p:cNvSpPr>
            <a:spLocks noGrp="1"/>
          </p:cNvSpPr>
          <p:nvPr/>
        </p:nvSpPr>
        <p:spPr>
          <a:xfrm>
            <a:off x="6381750" y="3743325"/>
            <a:ext cx="2057400" cy="2286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2593" lnSpcReduction="10000"/>
          </a:bodyPr>
          <a:lstStyle/>
          <a:p>
            <a:pPr algn="l">
              <a:defRPr sz="1350">
                <a:solidFill>
                  <a:srgbClr val="4C8E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8E3F"/>
                </a:solidFill>
                <a:latin typeface="Arial"/>
                <a:ea typeface="Arial"/>
                <a:cs typeface="Arial"/>
              </a:rPr>
              <a:t>source_weight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EF306B-16D8-429F-B31F-67E64C5C5B76}"/>
              </a:ext>
            </a:extLst>
          </p:cNvPr>
          <p:cNvSpPr>
            <a:spLocks noGrp="1"/>
          </p:cNvSpPr>
          <p:nvPr/>
        </p:nvSpPr>
        <p:spPr>
          <a:xfrm>
            <a:off x="6381750" y="4029075"/>
            <a:ext cx="2057400" cy="24765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163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5C6470"/>
                </a:solidFill>
                <a:latin typeface="Arial"/>
                <a:ea typeface="Arial"/>
                <a:cs typeface="Arial"/>
              </a:rPr>
              <a:t>качество источника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B88C501-E475-47C6-AE92-7E044F22E48F}"/>
              </a:ext>
            </a:extLst>
          </p:cNvPr>
          <p:cNvSpPr>
            <a:spLocks noGrp="1"/>
          </p:cNvSpPr>
          <p:nvPr/>
        </p:nvSpPr>
        <p:spPr>
          <a:xfrm>
            <a:off x="8972550" y="3619500"/>
            <a:ext cx="23241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FAE3EBD-3B34-4F22-9566-318217340B7D}"/>
              </a:ext>
            </a:extLst>
          </p:cNvPr>
          <p:cNvSpPr>
            <a:spLocks noGrp="1"/>
          </p:cNvSpPr>
          <p:nvPr/>
        </p:nvSpPr>
        <p:spPr>
          <a:xfrm>
            <a:off x="9105900" y="3743325"/>
            <a:ext cx="2057400" cy="2286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2593" lnSpcReduction="10000"/>
          </a:bodyPr>
          <a:lstStyle/>
          <a:p>
            <a:pPr algn="l">
              <a:defRPr sz="1350">
                <a:solidFill>
                  <a:srgbClr val="4C8E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8E3F"/>
                </a:solidFill>
                <a:latin typeface="Arial"/>
                <a:ea typeface="Arial"/>
                <a:cs typeface="Arial"/>
              </a:rPr>
              <a:t>lags 1/3/5/10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FB87E69-E087-4F1D-9A5B-EC26507AF620}"/>
              </a:ext>
            </a:extLst>
          </p:cNvPr>
          <p:cNvSpPr>
            <a:spLocks noGrp="1"/>
          </p:cNvSpPr>
          <p:nvPr/>
        </p:nvSpPr>
        <p:spPr>
          <a:xfrm>
            <a:off x="9105900" y="4029075"/>
            <a:ext cx="2057400" cy="24765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163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5C6470"/>
                </a:solidFill>
                <a:latin typeface="Arial"/>
                <a:ea typeface="Arial"/>
                <a:cs typeface="Arial"/>
              </a:rPr>
              <a:t>временная реакция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7E587BB-7F99-4F7C-8285-7550F77F5EFC}"/>
              </a:ext>
            </a:extLst>
          </p:cNvPr>
          <p:cNvSpPr>
            <a:spLocks noGrp="1"/>
          </p:cNvSpPr>
          <p:nvPr/>
        </p:nvSpPr>
        <p:spPr>
          <a:xfrm>
            <a:off x="952500" y="5162550"/>
            <a:ext cx="9810750" cy="723900"/>
          </a:xfrm>
          <a:prstGeom prst="roundRect">
            <a:avLst>
              <a:gd name="adj" fmla="val 7895"/>
            </a:avLst>
          </a:prstGeom>
          <a:solidFill>
            <a:srgbClr val="F6F8FB"/>
          </a:solidFill>
          <a:ln w="19050">
            <a:solidFill>
              <a:srgbClr val="C89400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BC7F123-3A18-4C5C-B78E-A6431114A056}"/>
              </a:ext>
            </a:extLst>
          </p:cNvPr>
          <p:cNvSpPr>
            <a:spLocks noGrp="1"/>
          </p:cNvSpPr>
          <p:nvPr/>
        </p:nvSpPr>
        <p:spPr>
          <a:xfrm>
            <a:off x="1123950" y="5295900"/>
            <a:ext cx="9467850" cy="4572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>
                <a:solidFill>
                  <a:srgbClr val="2025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202532"/>
                </a:solidFill>
                <a:latin typeface="Times New Roman"/>
                <a:ea typeface="Times New Roman"/>
                <a:cs typeface="Times New Roman"/>
              </a:rPr>
              <a:t>Антиутечка: новости календарного дня t используются только для прогноза следующего торгового дня; события после конца периода не попадают в основной эксперимент.</a:t>
            </a:r>
          </a:p>
        </p:txBody>
      </p:sp>
    </p:spTree>
    <p:extLst>
      <p:ext uri="{BB962C8B-B14F-4D97-AF65-F5344CB8AC3E}">
        <p14:creationId xmlns:p14="http://schemas.microsoft.com/office/powerpoint/2010/main" val="1485286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F2611C0F-6AA6-41D3-BB36-E6806E0172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055BB"/>
          </a:solidFill>
        </p:spPr>
        <p:txBody>
          <a:bodyPr/>
          <a:lstStyle/>
          <a:p>
            <a:endParaRPr lang="ru-RU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10750" y="232064"/>
            <a:ext cx="1771650" cy="6979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74A0D89-D812-49BB-B399-58289E15C7E7}"/>
              </a:ext>
            </a:extLst>
          </p:cNvPr>
          <p:cNvSpPr>
            <a:spLocks noGrp="1"/>
          </p:cNvSpPr>
          <p:nvPr/>
        </p:nvSpPr>
        <p:spPr>
          <a:xfrm>
            <a:off x="647700" y="352425"/>
            <a:ext cx="8286750" cy="552450"/>
          </a:xfrm>
          <a:prstGeom prst="rect">
            <a:avLst/>
          </a:prstGeom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27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Задача 3: baseline и схема сравнения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43662D-A28F-4673-B4C2-8955021E8B1C}"/>
              </a:ext>
            </a:extLst>
          </p:cNvPr>
          <p:cNvSpPr>
            <a:spLocks noGrp="1"/>
          </p:cNvSpPr>
          <p:nvPr/>
        </p:nvSpPr>
        <p:spPr>
          <a:xfrm>
            <a:off x="11696700" y="6419850"/>
            <a:ext cx="266700" cy="2286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88888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5F973B-2912-48B4-9F36-B1039BBC6562}"/>
              </a:ext>
            </a:extLst>
          </p:cNvPr>
          <p:cNvSpPr>
            <a:spLocks noGrp="1"/>
          </p:cNvSpPr>
          <p:nvPr/>
        </p:nvSpPr>
        <p:spPr>
          <a:xfrm>
            <a:off x="742950" y="1504950"/>
            <a:ext cx="9715500" cy="47625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81359" lnSpcReduction="10000"/>
          </a:bodyPr>
          <a:lstStyle/>
          <a:p>
            <a:pPr algn="l">
              <a:defRPr sz="2100">
                <a:solidFill>
                  <a:srgbClr val="2025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202532"/>
                </a:solidFill>
                <a:latin typeface="Times New Roman"/>
                <a:ea typeface="Times New Roman"/>
                <a:cs typeface="Times New Roman"/>
              </a:rPr>
              <a:t>Сравнение строится не с одной слабой моделью, а с несколькими содержательными эталонами.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87C57B-E72C-4496-AB30-CFF2A5C6D643}"/>
              </a:ext>
            </a:extLst>
          </p:cNvPr>
          <p:cNvSpPr>
            <a:spLocks noGrp="1"/>
          </p:cNvSpPr>
          <p:nvPr/>
        </p:nvSpPr>
        <p:spPr>
          <a:xfrm>
            <a:off x="647700" y="2762250"/>
            <a:ext cx="18097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C64461-C332-4661-8AB9-94FA0D1BCF60}"/>
              </a:ext>
            </a:extLst>
          </p:cNvPr>
          <p:cNvSpPr>
            <a:spLocks noGrp="1"/>
          </p:cNvSpPr>
          <p:nvPr/>
        </p:nvSpPr>
        <p:spPr>
          <a:xfrm>
            <a:off x="781050" y="3000375"/>
            <a:ext cx="154305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8409" lnSpcReduction="10000"/>
          </a:bodyPr>
          <a:lstStyle/>
          <a:p>
            <a:pPr algn="ctr">
              <a:defRPr sz="1650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532"/>
                </a:solidFill>
                <a:latin typeface="Arial"/>
                <a:ea typeface="Arial"/>
                <a:cs typeface="Arial"/>
              </a:rPr>
              <a:t>Naive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3FF6B7-F416-4997-8B78-11D94B484F6A}"/>
              </a:ext>
            </a:extLst>
          </p:cNvPr>
          <p:cNvSpPr>
            <a:spLocks noGrp="1"/>
          </p:cNvSpPr>
          <p:nvPr/>
        </p:nvSpPr>
        <p:spPr>
          <a:xfrm>
            <a:off x="800100" y="3371850"/>
            <a:ext cx="1504950" cy="3810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088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5C6470"/>
                </a:solidFill>
                <a:latin typeface="Arial"/>
                <a:ea typeface="Arial"/>
                <a:cs typeface="Arial"/>
              </a:rPr>
              <a:t>нижняя граница качества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CE60A3-CC16-4212-B599-D08BE4735689}"/>
              </a:ext>
            </a:extLst>
          </p:cNvPr>
          <p:cNvSpPr>
            <a:spLocks noGrp="1"/>
          </p:cNvSpPr>
          <p:nvPr/>
        </p:nvSpPr>
        <p:spPr>
          <a:xfrm>
            <a:off x="2495550" y="3267075"/>
            <a:ext cx="323850" cy="28575"/>
          </a:xfrm>
          <a:prstGeom prst="rect">
            <a:avLst/>
          </a:prstGeom>
          <a:solidFill>
            <a:srgbClr val="0055BB"/>
          </a:solidFill>
        </p:spPr>
        <p:txBody>
          <a:bodyPr/>
          <a:lstStyle/>
          <a:p>
            <a:endParaRPr lang="ru-RU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0E386C3-8D1F-424A-AB73-9B1A4E8A99BC}"/>
              </a:ext>
            </a:extLst>
          </p:cNvPr>
          <p:cNvSpPr>
            <a:spLocks noGrp="1"/>
          </p:cNvSpPr>
          <p:nvPr/>
        </p:nvSpPr>
        <p:spPr>
          <a:xfrm>
            <a:off x="2914650" y="2762250"/>
            <a:ext cx="18097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6B952A-9B8F-48B5-9F28-C8DE13805E4B}"/>
              </a:ext>
            </a:extLst>
          </p:cNvPr>
          <p:cNvSpPr>
            <a:spLocks noGrp="1"/>
          </p:cNvSpPr>
          <p:nvPr/>
        </p:nvSpPr>
        <p:spPr>
          <a:xfrm>
            <a:off x="3048000" y="3000375"/>
            <a:ext cx="154305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8409" lnSpcReduction="10000"/>
          </a:bodyPr>
          <a:lstStyle/>
          <a:p>
            <a:pPr algn="ctr">
              <a:defRPr sz="1650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532"/>
                </a:solidFill>
                <a:latin typeface="Arial"/>
                <a:ea typeface="Arial"/>
                <a:cs typeface="Arial"/>
              </a:rPr>
              <a:t>ARIMAX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AF5FD1-B284-4B39-8737-235F9D665298}"/>
              </a:ext>
            </a:extLst>
          </p:cNvPr>
          <p:cNvSpPr>
            <a:spLocks noGrp="1"/>
          </p:cNvSpPr>
          <p:nvPr/>
        </p:nvSpPr>
        <p:spPr>
          <a:xfrm>
            <a:off x="3067050" y="3371850"/>
            <a:ext cx="1504950" cy="3810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088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5C6470"/>
                </a:solidFill>
                <a:latin typeface="Arial"/>
                <a:ea typeface="Arial"/>
                <a:cs typeface="Arial"/>
              </a:rPr>
              <a:t>условное среднее + экзогенные факторы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16AEF8-A2FE-479F-B2E1-17C2B3D00625}"/>
              </a:ext>
            </a:extLst>
          </p:cNvPr>
          <p:cNvSpPr>
            <a:spLocks noGrp="1"/>
          </p:cNvSpPr>
          <p:nvPr/>
        </p:nvSpPr>
        <p:spPr>
          <a:xfrm>
            <a:off x="4762500" y="3267075"/>
            <a:ext cx="323850" cy="28575"/>
          </a:xfrm>
          <a:prstGeom prst="rect">
            <a:avLst/>
          </a:prstGeom>
          <a:solidFill>
            <a:srgbClr val="0055BB"/>
          </a:solidFill>
        </p:spPr>
        <p:txBody>
          <a:bodyPr/>
          <a:lstStyle/>
          <a:p>
            <a:endParaRPr lang="ru-RU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04760D6-EAEA-4003-9918-DA1AB5A3089D}"/>
              </a:ext>
            </a:extLst>
          </p:cNvPr>
          <p:cNvSpPr>
            <a:spLocks noGrp="1"/>
          </p:cNvSpPr>
          <p:nvPr/>
        </p:nvSpPr>
        <p:spPr>
          <a:xfrm>
            <a:off x="5181600" y="2762250"/>
            <a:ext cx="18097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1BD727-C92D-4F1D-98E5-0A54C65478BB}"/>
              </a:ext>
            </a:extLst>
          </p:cNvPr>
          <p:cNvSpPr>
            <a:spLocks noGrp="1"/>
          </p:cNvSpPr>
          <p:nvPr/>
        </p:nvSpPr>
        <p:spPr>
          <a:xfrm>
            <a:off x="5314950" y="3000375"/>
            <a:ext cx="154305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8409" lnSpcReduction="10000"/>
          </a:bodyPr>
          <a:lstStyle/>
          <a:p>
            <a:pPr algn="ctr">
              <a:defRPr sz="1650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532"/>
                </a:solidFill>
                <a:latin typeface="Arial"/>
                <a:ea typeface="Arial"/>
                <a:cs typeface="Arial"/>
              </a:rPr>
              <a:t>VAR / VARX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E7CDC0-5AE3-4D4A-BB1B-878211C22B83}"/>
              </a:ext>
            </a:extLst>
          </p:cNvPr>
          <p:cNvSpPr>
            <a:spLocks noGrp="1"/>
          </p:cNvSpPr>
          <p:nvPr/>
        </p:nvSpPr>
        <p:spPr>
          <a:xfrm>
            <a:off x="5334000" y="3371850"/>
            <a:ext cx="1504950" cy="3810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088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5C6470"/>
                </a:solidFill>
                <a:latin typeface="Arial"/>
                <a:ea typeface="Arial"/>
                <a:cs typeface="Arial"/>
              </a:rPr>
              <a:t>совместная динамика рядов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C64706-B61D-4F67-A449-8DA733844072}"/>
              </a:ext>
            </a:extLst>
          </p:cNvPr>
          <p:cNvSpPr>
            <a:spLocks noGrp="1"/>
          </p:cNvSpPr>
          <p:nvPr/>
        </p:nvSpPr>
        <p:spPr>
          <a:xfrm>
            <a:off x="7029450" y="3267075"/>
            <a:ext cx="323850" cy="28575"/>
          </a:xfrm>
          <a:prstGeom prst="rect">
            <a:avLst/>
          </a:prstGeom>
          <a:solidFill>
            <a:srgbClr val="0055BB"/>
          </a:solidFill>
        </p:spPr>
        <p:txBody>
          <a:bodyPr/>
          <a:lstStyle/>
          <a:p>
            <a:endParaRPr lang="ru-RU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95C4378-1FB8-4BCC-A37F-3BEBDC0BE80D}"/>
              </a:ext>
            </a:extLst>
          </p:cNvPr>
          <p:cNvSpPr>
            <a:spLocks noGrp="1"/>
          </p:cNvSpPr>
          <p:nvPr/>
        </p:nvSpPr>
        <p:spPr>
          <a:xfrm>
            <a:off x="7448550" y="2762250"/>
            <a:ext cx="18097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A50B1C-1783-4E9F-81ED-810B978A0A7C}"/>
              </a:ext>
            </a:extLst>
          </p:cNvPr>
          <p:cNvSpPr>
            <a:spLocks noGrp="1"/>
          </p:cNvSpPr>
          <p:nvPr/>
        </p:nvSpPr>
        <p:spPr>
          <a:xfrm>
            <a:off x="7581900" y="3000375"/>
            <a:ext cx="154305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8409" lnSpcReduction="10000"/>
          </a:bodyPr>
          <a:lstStyle/>
          <a:p>
            <a:pPr algn="ctr">
              <a:defRPr sz="1650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532"/>
                </a:solidFill>
                <a:latin typeface="Arial"/>
                <a:ea typeface="Arial"/>
                <a:cs typeface="Arial"/>
              </a:rPr>
              <a:t>GARCH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62BF91-4A87-487A-8626-899EDCF55CAF}"/>
              </a:ext>
            </a:extLst>
          </p:cNvPr>
          <p:cNvSpPr>
            <a:spLocks noGrp="1"/>
          </p:cNvSpPr>
          <p:nvPr/>
        </p:nvSpPr>
        <p:spPr>
          <a:xfrm>
            <a:off x="7600950" y="3371850"/>
            <a:ext cx="1504950" cy="3810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088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5C6470"/>
                </a:solidFill>
                <a:latin typeface="Arial"/>
                <a:ea typeface="Arial"/>
                <a:cs typeface="Arial"/>
              </a:rPr>
              <a:t>волатильность и QLIKE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57AB18-49D5-4BEF-84FA-C148054440A5}"/>
              </a:ext>
            </a:extLst>
          </p:cNvPr>
          <p:cNvSpPr>
            <a:spLocks noGrp="1"/>
          </p:cNvSpPr>
          <p:nvPr/>
        </p:nvSpPr>
        <p:spPr>
          <a:xfrm>
            <a:off x="9296400" y="3267075"/>
            <a:ext cx="323850" cy="28575"/>
          </a:xfrm>
          <a:prstGeom prst="rect">
            <a:avLst/>
          </a:prstGeom>
          <a:solidFill>
            <a:srgbClr val="0055BB"/>
          </a:solidFill>
        </p:spPr>
        <p:txBody>
          <a:bodyPr/>
          <a:lstStyle/>
          <a:p>
            <a:endParaRPr lang="ru-RU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EC28D7A-604E-4E47-8765-3358704BB92D}"/>
              </a:ext>
            </a:extLst>
          </p:cNvPr>
          <p:cNvSpPr>
            <a:spLocks noGrp="1"/>
          </p:cNvSpPr>
          <p:nvPr/>
        </p:nvSpPr>
        <p:spPr>
          <a:xfrm>
            <a:off x="9715500" y="2762250"/>
            <a:ext cx="18097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9050">
            <a:solidFill>
              <a:srgbClr val="0055B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E85610-0341-472A-ABAB-27CEC5399AE0}"/>
              </a:ext>
            </a:extLst>
          </p:cNvPr>
          <p:cNvSpPr>
            <a:spLocks noGrp="1"/>
          </p:cNvSpPr>
          <p:nvPr/>
        </p:nvSpPr>
        <p:spPr>
          <a:xfrm>
            <a:off x="9848850" y="3000375"/>
            <a:ext cx="154305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8409" lnSpcReduction="10000"/>
          </a:bodyPr>
          <a:lstStyle/>
          <a:p>
            <a:pPr algn="ctr">
              <a:defRPr sz="1650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55BB"/>
                </a:solidFill>
                <a:latin typeface="Arial"/>
                <a:ea typeface="Arial"/>
                <a:cs typeface="Arial"/>
              </a:rPr>
              <a:t>Ridge / LogReg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0AC315-025C-41DF-A4B4-0275328D94D8}"/>
              </a:ext>
            </a:extLst>
          </p:cNvPr>
          <p:cNvSpPr>
            <a:spLocks noGrp="1"/>
          </p:cNvSpPr>
          <p:nvPr/>
        </p:nvSpPr>
        <p:spPr>
          <a:xfrm>
            <a:off x="9867900" y="3371850"/>
            <a:ext cx="1504950" cy="3810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ctr">
              <a:defRPr sz="1088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5C6470"/>
                </a:solidFill>
                <a:latin typeface="Arial"/>
                <a:ea typeface="Arial"/>
                <a:cs typeface="Arial"/>
              </a:rPr>
              <a:t>market-only и LLM-hybrid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29724BC-274E-4F63-83BA-BD9F2CA9665E}"/>
              </a:ext>
            </a:extLst>
          </p:cNvPr>
          <p:cNvSpPr>
            <a:spLocks noGrp="1"/>
          </p:cNvSpPr>
          <p:nvPr/>
        </p:nvSpPr>
        <p:spPr>
          <a:xfrm>
            <a:off x="1123950" y="4762500"/>
            <a:ext cx="31242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DF84ECE-773F-4652-B5D3-EFBF15A108B6}"/>
              </a:ext>
            </a:extLst>
          </p:cNvPr>
          <p:cNvSpPr>
            <a:spLocks noGrp="1"/>
          </p:cNvSpPr>
          <p:nvPr/>
        </p:nvSpPr>
        <p:spPr>
          <a:xfrm>
            <a:off x="1123950" y="4762500"/>
            <a:ext cx="66675" cy="1047750"/>
          </a:xfrm>
          <a:prstGeom prst="rect">
            <a:avLst/>
          </a:prstGeom>
          <a:solidFill>
            <a:srgbClr val="0055BB"/>
          </a:solidFill>
        </p:spPr>
        <p:txBody>
          <a:bodyPr/>
          <a:lstStyle/>
          <a:p>
            <a:endParaRPr lang="ru-RU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7A337AC-4301-4415-960E-34768A41FB6A}"/>
              </a:ext>
            </a:extLst>
          </p:cNvPr>
          <p:cNvSpPr>
            <a:spLocks noGrp="1"/>
          </p:cNvSpPr>
          <p:nvPr/>
        </p:nvSpPr>
        <p:spPr>
          <a:xfrm>
            <a:off x="1333500" y="4914900"/>
            <a:ext cx="272415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532"/>
                </a:solidFill>
                <a:latin typeface="Arial"/>
                <a:ea typeface="Arial"/>
                <a:cs typeface="Arial"/>
              </a:rPr>
              <a:t>Валидация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E98F1F-4FD8-41E8-A103-0C5344F63B20}"/>
              </a:ext>
            </a:extLst>
          </p:cNvPr>
          <p:cNvSpPr>
            <a:spLocks noGrp="1"/>
          </p:cNvSpPr>
          <p:nvPr/>
        </p:nvSpPr>
        <p:spPr>
          <a:xfrm>
            <a:off x="1333500" y="5276850"/>
            <a:ext cx="2724150" cy="43815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76754" lnSpcReduction="10000"/>
          </a:bodyPr>
          <a:lstStyle/>
          <a:p>
            <a:pPr algn="l">
              <a:defRPr sz="114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140">
                <a:solidFill>
                  <a:srgbClr val="5C6470"/>
                </a:solidFill>
                <a:latin typeface="Arial"/>
                <a:ea typeface="Arial"/>
                <a:cs typeface="Arial"/>
              </a:rPr>
              <a:t>expanding/rolling-window: минимум год обучения, помесячное переобучение, прогноз следующего месяца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FD9BD1C-6DD1-423B-A6CE-F79AA3F87C4A}"/>
              </a:ext>
            </a:extLst>
          </p:cNvPr>
          <p:cNvSpPr>
            <a:spLocks noGrp="1"/>
          </p:cNvSpPr>
          <p:nvPr/>
        </p:nvSpPr>
        <p:spPr>
          <a:xfrm>
            <a:off x="4533900" y="4762500"/>
            <a:ext cx="31242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A1CA209-8F4D-429A-AB7D-0579233052D3}"/>
              </a:ext>
            </a:extLst>
          </p:cNvPr>
          <p:cNvSpPr>
            <a:spLocks noGrp="1"/>
          </p:cNvSpPr>
          <p:nvPr/>
        </p:nvSpPr>
        <p:spPr>
          <a:xfrm>
            <a:off x="4533900" y="4762500"/>
            <a:ext cx="66675" cy="1047750"/>
          </a:xfrm>
          <a:prstGeom prst="rect">
            <a:avLst/>
          </a:prstGeom>
          <a:solidFill>
            <a:srgbClr val="4C8E3F"/>
          </a:solidFill>
        </p:spPr>
        <p:txBody>
          <a:bodyPr/>
          <a:lstStyle/>
          <a:p>
            <a:endParaRPr lang="ru-RU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F777C9D-8090-41CF-ADAA-B54E24AD68F0}"/>
              </a:ext>
            </a:extLst>
          </p:cNvPr>
          <p:cNvSpPr>
            <a:spLocks noGrp="1"/>
          </p:cNvSpPr>
          <p:nvPr/>
        </p:nvSpPr>
        <p:spPr>
          <a:xfrm>
            <a:off x="4743450" y="4914900"/>
            <a:ext cx="272415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532"/>
                </a:solidFill>
                <a:latin typeface="Arial"/>
                <a:ea typeface="Arial"/>
                <a:cs typeface="Arial"/>
              </a:rPr>
              <a:t>Метрики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B25604F-B988-4269-9EFF-00439B26BDA1}"/>
              </a:ext>
            </a:extLst>
          </p:cNvPr>
          <p:cNvSpPr>
            <a:spLocks noGrp="1"/>
          </p:cNvSpPr>
          <p:nvPr/>
        </p:nvSpPr>
        <p:spPr>
          <a:xfrm>
            <a:off x="4743450" y="5276850"/>
            <a:ext cx="2724150" cy="43815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76754" lnSpcReduction="10000"/>
          </a:bodyPr>
          <a:lstStyle/>
          <a:p>
            <a:pPr algn="l">
              <a:defRPr sz="114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140">
                <a:solidFill>
                  <a:srgbClr val="5C6470"/>
                </a:solidFill>
                <a:latin typeface="Arial"/>
                <a:ea typeface="Arial"/>
                <a:cs typeface="Arial"/>
              </a:rPr>
              <a:t>RMSE/MAE доходности, Accuracy/F1/ROC-AUC/MCC направления, QLIKE/RMSE волатильности, Sharpe и drawdown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FF7EBB3-831C-4CEC-9B21-EB2CD9F3D58B}"/>
              </a:ext>
            </a:extLst>
          </p:cNvPr>
          <p:cNvSpPr>
            <a:spLocks noGrp="1"/>
          </p:cNvSpPr>
          <p:nvPr/>
        </p:nvSpPr>
        <p:spPr>
          <a:xfrm>
            <a:off x="7943850" y="4762500"/>
            <a:ext cx="31242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B4CE6A-8428-482C-BB9B-08145CA83AF9}"/>
              </a:ext>
            </a:extLst>
          </p:cNvPr>
          <p:cNvSpPr>
            <a:spLocks noGrp="1"/>
          </p:cNvSpPr>
          <p:nvPr/>
        </p:nvSpPr>
        <p:spPr>
          <a:xfrm>
            <a:off x="7943850" y="4762500"/>
            <a:ext cx="66675" cy="1047750"/>
          </a:xfrm>
          <a:prstGeom prst="rect">
            <a:avLst/>
          </a:prstGeom>
          <a:solidFill>
            <a:srgbClr val="C89400"/>
          </a:solidFill>
        </p:spPr>
        <p:txBody>
          <a:bodyPr/>
          <a:lstStyle/>
          <a:p>
            <a:endParaRPr lang="ru-RU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7262FEA-1368-4A87-AEC9-602B31942B0D}"/>
              </a:ext>
            </a:extLst>
          </p:cNvPr>
          <p:cNvSpPr>
            <a:spLocks noGrp="1"/>
          </p:cNvSpPr>
          <p:nvPr/>
        </p:nvSpPr>
        <p:spPr>
          <a:xfrm>
            <a:off x="8153400" y="4914900"/>
            <a:ext cx="272415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532"/>
                </a:solidFill>
                <a:latin typeface="Arial"/>
                <a:ea typeface="Arial"/>
                <a:cs typeface="Arial"/>
              </a:rPr>
              <a:t>Статистика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412F481-AA7F-4200-8CE2-657E0440C8D2}"/>
              </a:ext>
            </a:extLst>
          </p:cNvPr>
          <p:cNvSpPr>
            <a:spLocks noGrp="1"/>
          </p:cNvSpPr>
          <p:nvPr/>
        </p:nvSpPr>
        <p:spPr>
          <a:xfrm>
            <a:off x="8153400" y="5276850"/>
            <a:ext cx="2724150" cy="43815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1490"/>
          </a:bodyPr>
          <a:lstStyle/>
          <a:p>
            <a:pPr algn="l">
              <a:defRPr sz="114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140">
                <a:solidFill>
                  <a:srgbClr val="5C6470"/>
                </a:solidFill>
                <a:latin typeface="Arial"/>
                <a:ea typeface="Arial"/>
                <a:cs typeface="Arial"/>
              </a:rPr>
              <a:t>block bootstrap, McNemar для направления, Diebold-Mariano для ошибок доходности</a:t>
            </a:r>
          </a:p>
        </p:txBody>
      </p:sp>
    </p:spTree>
    <p:extLst>
      <p:ext uri="{BB962C8B-B14F-4D97-AF65-F5344CB8AC3E}">
        <p14:creationId xmlns:p14="http://schemas.microsoft.com/office/powerpoint/2010/main" val="911992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4A544CD-FD4C-47B3-910F-65AF853671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055BB"/>
          </a:solidFill>
        </p:spPr>
        <p:txBody>
          <a:bodyPr/>
          <a:lstStyle/>
          <a:p>
            <a:endParaRPr lang="ru-RU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10750" y="232064"/>
            <a:ext cx="1771650" cy="6979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E5AE8F1-1B05-4196-98E4-3FEDD1BFBC0D}"/>
              </a:ext>
            </a:extLst>
          </p:cNvPr>
          <p:cNvSpPr>
            <a:spLocks noGrp="1"/>
          </p:cNvSpPr>
          <p:nvPr/>
        </p:nvSpPr>
        <p:spPr>
          <a:xfrm>
            <a:off x="647700" y="352425"/>
            <a:ext cx="8286750" cy="552450"/>
          </a:xfrm>
          <a:prstGeom prst="rect">
            <a:avLst/>
          </a:prstGeom>
        </p:spPr>
        <p:txBody>
          <a:bodyPr wrap="square" lIns="19050" tIns="19050" rIns="19050" bIns="19050" anchor="ctr">
            <a:normAutofit fontScale="91453"/>
          </a:bodyPr>
          <a:lstStyle/>
          <a:p>
            <a:pPr algn="l">
              <a:defRPr sz="27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Задача 4: воспроизводимый экспериментальный контур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87681D-7D6C-4F01-B4B4-F899EC857C04}"/>
              </a:ext>
            </a:extLst>
          </p:cNvPr>
          <p:cNvSpPr>
            <a:spLocks noGrp="1"/>
          </p:cNvSpPr>
          <p:nvPr/>
        </p:nvSpPr>
        <p:spPr>
          <a:xfrm>
            <a:off x="11696700" y="6419850"/>
            <a:ext cx="266700" cy="2286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88888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19DFA1-6549-44EA-A4F1-267DC7C3B65E}"/>
              </a:ext>
            </a:extLst>
          </p:cNvPr>
          <p:cNvSpPr>
            <a:spLocks noGrp="1"/>
          </p:cNvSpPr>
          <p:nvPr/>
        </p:nvSpPr>
        <p:spPr>
          <a:xfrm>
            <a:off x="504825" y="1609725"/>
            <a:ext cx="697230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82909" y="1619250"/>
            <a:ext cx="6216132" cy="2952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10B05F6-CC93-4542-B63B-12B35403F723}"/>
              </a:ext>
            </a:extLst>
          </p:cNvPr>
          <p:cNvSpPr>
            <a:spLocks noGrp="1"/>
          </p:cNvSpPr>
          <p:nvPr/>
        </p:nvSpPr>
        <p:spPr>
          <a:xfrm>
            <a:off x="8001000" y="1638300"/>
            <a:ext cx="2381250" cy="4191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8039"/>
          </a:bodyPr>
          <a:lstStyle/>
          <a:p>
            <a:pPr algn="l">
              <a:defRPr sz="2550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5BB"/>
                </a:solidFill>
                <a:latin typeface="Arial"/>
                <a:ea typeface="Arial"/>
                <a:cs typeface="Arial"/>
              </a:rPr>
              <a:t>2019-2025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D7532C-5D65-4FB0-B7FC-B6EEC479E61B}"/>
              </a:ext>
            </a:extLst>
          </p:cNvPr>
          <p:cNvSpPr>
            <a:spLocks noGrp="1"/>
          </p:cNvSpPr>
          <p:nvPr/>
        </p:nvSpPr>
        <p:spPr>
          <a:xfrm>
            <a:off x="8001000" y="2057400"/>
            <a:ext cx="2381250" cy="4572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88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5C6470"/>
                </a:solidFill>
                <a:latin typeface="Arial"/>
                <a:ea typeface="Arial"/>
                <a:cs typeface="Arial"/>
              </a:rPr>
              <a:t>период эксперимента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8EA0EE-918A-4A58-873E-B06E843630CD}"/>
              </a:ext>
            </a:extLst>
          </p:cNvPr>
          <p:cNvSpPr>
            <a:spLocks noGrp="1"/>
          </p:cNvSpPr>
          <p:nvPr/>
        </p:nvSpPr>
        <p:spPr>
          <a:xfrm>
            <a:off x="8001000" y="2571750"/>
            <a:ext cx="2762250" cy="4191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8039"/>
          </a:bodyPr>
          <a:lstStyle/>
          <a:p>
            <a:pPr algn="l">
              <a:defRPr sz="2550">
                <a:solidFill>
                  <a:srgbClr val="4C8E3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E3F"/>
                </a:solidFill>
                <a:latin typeface="Arial"/>
                <a:ea typeface="Arial"/>
                <a:cs typeface="Arial"/>
              </a:rPr>
              <a:t>858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784719-AFA6-4024-86A1-F837B8821253}"/>
              </a:ext>
            </a:extLst>
          </p:cNvPr>
          <p:cNvSpPr>
            <a:spLocks noGrp="1"/>
          </p:cNvSpPr>
          <p:nvPr/>
        </p:nvSpPr>
        <p:spPr>
          <a:xfrm>
            <a:off x="8001000" y="2990850"/>
            <a:ext cx="2762250" cy="4572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88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5C6470"/>
                </a:solidFill>
                <a:latin typeface="Arial"/>
                <a:ea typeface="Arial"/>
                <a:cs typeface="Arial"/>
              </a:rPr>
              <a:t>новостей GDELT после фильтрации English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CA361F-0B83-49BC-AE93-DDD9715CD6ED}"/>
              </a:ext>
            </a:extLst>
          </p:cNvPr>
          <p:cNvSpPr>
            <a:spLocks noGrp="1"/>
          </p:cNvSpPr>
          <p:nvPr/>
        </p:nvSpPr>
        <p:spPr>
          <a:xfrm>
            <a:off x="8001000" y="3638550"/>
            <a:ext cx="2762250" cy="4191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8039"/>
          </a:bodyPr>
          <a:lstStyle/>
          <a:p>
            <a:pPr algn="l">
              <a:defRPr sz="2550">
                <a:solidFill>
                  <a:srgbClr val="C894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89400"/>
                </a:solidFill>
                <a:latin typeface="Arial"/>
                <a:ea typeface="Arial"/>
                <a:cs typeface="Arial"/>
              </a:rPr>
              <a:t>1 565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929AFC-DE89-470B-88FB-71BBB1C4F368}"/>
              </a:ext>
            </a:extLst>
          </p:cNvPr>
          <p:cNvSpPr>
            <a:spLocks noGrp="1"/>
          </p:cNvSpPr>
          <p:nvPr/>
        </p:nvSpPr>
        <p:spPr>
          <a:xfrm>
            <a:off x="8001000" y="4057650"/>
            <a:ext cx="2762250" cy="4572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88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5C6470"/>
                </a:solidFill>
                <a:latin typeface="Arial"/>
                <a:ea typeface="Arial"/>
                <a:cs typeface="Arial"/>
              </a:rPr>
              <a:t>out-of-sample наблюдений в метриках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4377DC-C353-4C47-BCD3-4ED777B514F6}"/>
              </a:ext>
            </a:extLst>
          </p:cNvPr>
          <p:cNvSpPr>
            <a:spLocks noGrp="1"/>
          </p:cNvSpPr>
          <p:nvPr/>
        </p:nvSpPr>
        <p:spPr>
          <a:xfrm>
            <a:off x="8001000" y="4552950"/>
            <a:ext cx="2857500" cy="4191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8039"/>
          </a:bodyPr>
          <a:lstStyle/>
          <a:p>
            <a:pPr algn="l">
              <a:defRPr sz="2550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5BB"/>
                </a:solidFill>
                <a:latin typeface="Arial"/>
                <a:ea typeface="Arial"/>
                <a:cs typeface="Arial"/>
              </a:rPr>
              <a:t>qwen-plus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EA4D5E-5B9B-4D0D-97EF-136EB39C5B79}"/>
              </a:ext>
            </a:extLst>
          </p:cNvPr>
          <p:cNvSpPr>
            <a:spLocks noGrp="1"/>
          </p:cNvSpPr>
          <p:nvPr/>
        </p:nvSpPr>
        <p:spPr>
          <a:xfrm>
            <a:off x="8001000" y="4972050"/>
            <a:ext cx="2857500" cy="4572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88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5C6470"/>
                </a:solidFill>
                <a:latin typeface="Arial"/>
                <a:ea typeface="Arial"/>
                <a:cs typeface="Arial"/>
              </a:rPr>
              <a:t>основной LLM-разметчик; qwen3-max для аудита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FC53C91-86A4-4298-8978-2961F0B124A7}"/>
              </a:ext>
            </a:extLst>
          </p:cNvPr>
          <p:cNvSpPr>
            <a:spLocks noGrp="1"/>
          </p:cNvSpPr>
          <p:nvPr/>
        </p:nvSpPr>
        <p:spPr>
          <a:xfrm>
            <a:off x="838200" y="5638800"/>
            <a:ext cx="10096500" cy="514350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19050">
            <a:solidFill>
              <a:srgbClr val="0055B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E9BD6F-22C0-4EA3-BD04-1593AA8F0B60}"/>
              </a:ext>
            </a:extLst>
          </p:cNvPr>
          <p:cNvSpPr>
            <a:spLocks noGrp="1"/>
          </p:cNvSpPr>
          <p:nvPr/>
        </p:nvSpPr>
        <p:spPr>
          <a:xfrm>
            <a:off x="1009650" y="5772150"/>
            <a:ext cx="9753600" cy="24765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>
                <a:solidFill>
                  <a:srgbClr val="2025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202532"/>
                </a:solidFill>
                <a:latin typeface="Times New Roman"/>
                <a:ea typeface="Times New Roman"/>
                <a:cs typeface="Times New Roman"/>
              </a:rPr>
              <a:t>Артефакты эксперимента: metrics.csv, rolling_metrics.csv, feature_ablation.csv, stat_tests.csv, run_summary.json и графики в outputs/.</a:t>
            </a:r>
          </a:p>
        </p:txBody>
      </p:sp>
    </p:spTree>
    <p:extLst>
      <p:ext uri="{BB962C8B-B14F-4D97-AF65-F5344CB8AC3E}">
        <p14:creationId xmlns:p14="http://schemas.microsoft.com/office/powerpoint/2010/main" val="1824758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916F3D3-BC5C-453D-AEA7-C94B125A18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055BB"/>
          </a:solidFill>
        </p:spPr>
        <p:txBody>
          <a:bodyPr/>
          <a:lstStyle/>
          <a:p>
            <a:endParaRPr lang="ru-RU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10750" y="232064"/>
            <a:ext cx="1771650" cy="6979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53AAEF9-C2F3-42E1-922F-82A461D37993}"/>
              </a:ext>
            </a:extLst>
          </p:cNvPr>
          <p:cNvSpPr>
            <a:spLocks noGrp="1"/>
          </p:cNvSpPr>
          <p:nvPr/>
        </p:nvSpPr>
        <p:spPr>
          <a:xfrm>
            <a:off x="647700" y="352425"/>
            <a:ext cx="8286750" cy="552450"/>
          </a:xfrm>
          <a:prstGeom prst="rect">
            <a:avLst/>
          </a:prstGeom>
        </p:spPr>
        <p:txBody>
          <a:bodyPr wrap="square" lIns="19050" tIns="19050" rIns="19050" bIns="19050" anchor="ctr">
            <a:normAutofit/>
          </a:bodyPr>
          <a:lstStyle/>
          <a:p>
            <a:pPr algn="l">
              <a:defRPr sz="27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Данные покрывают несколько рыночных режимов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4EF35C-1B6D-4D80-9FCE-8918D24F22DB}"/>
              </a:ext>
            </a:extLst>
          </p:cNvPr>
          <p:cNvSpPr>
            <a:spLocks noGrp="1"/>
          </p:cNvSpPr>
          <p:nvPr/>
        </p:nvSpPr>
        <p:spPr>
          <a:xfrm>
            <a:off x="11696700" y="6419850"/>
            <a:ext cx="266700" cy="2286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88888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140015-7BC6-4673-90EA-E55DF4301285}"/>
              </a:ext>
            </a:extLst>
          </p:cNvPr>
          <p:cNvSpPr>
            <a:spLocks noGrp="1"/>
          </p:cNvSpPr>
          <p:nvPr/>
        </p:nvSpPr>
        <p:spPr>
          <a:xfrm>
            <a:off x="390525" y="1495425"/>
            <a:ext cx="81153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00050" y="1528763"/>
            <a:ext cx="8096250" cy="40481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8EAC5B1-3D79-4FF5-A4FB-AAA60DE4D928}"/>
              </a:ext>
            </a:extLst>
          </p:cNvPr>
          <p:cNvSpPr>
            <a:spLocks noGrp="1"/>
          </p:cNvSpPr>
          <p:nvPr/>
        </p:nvSpPr>
        <p:spPr>
          <a:xfrm>
            <a:off x="8858250" y="1581150"/>
            <a:ext cx="238125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4456" lnSpcReduction="10000"/>
          </a:bodyPr>
          <a:lstStyle/>
          <a:p>
            <a:pPr algn="l">
              <a:defRPr sz="1725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55BB"/>
                </a:solidFill>
                <a:latin typeface="Arial"/>
                <a:ea typeface="Arial"/>
                <a:cs typeface="Arial"/>
              </a:rPr>
              <a:t>Почему это важно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0C534F-9C7E-4E05-ACF9-2C30091E3448}"/>
              </a:ext>
            </a:extLst>
          </p:cNvPr>
          <p:cNvSpPr>
            <a:spLocks noGrp="1"/>
          </p:cNvSpPr>
          <p:nvPr/>
        </p:nvSpPr>
        <p:spPr>
          <a:xfrm>
            <a:off x="8858250" y="2095500"/>
            <a:ext cx="22860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275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55B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447573-C4AC-4FBE-8C2D-2179CC4ABD4E}"/>
              </a:ext>
            </a:extLst>
          </p:cNvPr>
          <p:cNvSpPr>
            <a:spLocks noGrp="1"/>
          </p:cNvSpPr>
          <p:nvPr/>
        </p:nvSpPr>
        <p:spPr>
          <a:xfrm>
            <a:off x="9163050" y="2076450"/>
            <a:ext cx="2171700" cy="7239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5735" lnSpcReduction="10000"/>
          </a:bodyPr>
          <a:lstStyle/>
          <a:p>
            <a:pPr algn="l">
              <a:defRPr sz="1275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532"/>
                </a:solidFill>
                <a:latin typeface="Arial"/>
                <a:ea typeface="Arial"/>
                <a:cs typeface="Arial"/>
              </a:rPr>
              <a:t>COVID-шок 2020 года проверяет устойчивость контура в экстремальной волатильности.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985F64-F5AC-48A8-BB74-CCA989942121}"/>
              </a:ext>
            </a:extLst>
          </p:cNvPr>
          <p:cNvSpPr>
            <a:spLocks noGrp="1"/>
          </p:cNvSpPr>
          <p:nvPr/>
        </p:nvSpPr>
        <p:spPr>
          <a:xfrm>
            <a:off x="8858250" y="3048000"/>
            <a:ext cx="22860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275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55B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220A06-57AE-4E23-AD84-BB422AC9B628}"/>
              </a:ext>
            </a:extLst>
          </p:cNvPr>
          <p:cNvSpPr>
            <a:spLocks noGrp="1"/>
          </p:cNvSpPr>
          <p:nvPr/>
        </p:nvSpPr>
        <p:spPr>
          <a:xfrm>
            <a:off x="9163050" y="3028950"/>
            <a:ext cx="2171700" cy="7239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275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532"/>
                </a:solidFill>
                <a:latin typeface="Arial"/>
                <a:ea typeface="Arial"/>
                <a:cs typeface="Arial"/>
              </a:rPr>
              <a:t>Резкий рост цен 2022 года задает другой режим реакции рынка на новости.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1C40BF-A806-47DB-978C-0958BE6B7E7C}"/>
              </a:ext>
            </a:extLst>
          </p:cNvPr>
          <p:cNvSpPr>
            <a:spLocks noGrp="1"/>
          </p:cNvSpPr>
          <p:nvPr/>
        </p:nvSpPr>
        <p:spPr>
          <a:xfrm>
            <a:off x="8858250" y="4000500"/>
            <a:ext cx="22860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275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55B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DAC9AB-33E8-4DE6-A711-F59717A805D0}"/>
              </a:ext>
            </a:extLst>
          </p:cNvPr>
          <p:cNvSpPr>
            <a:spLocks noGrp="1"/>
          </p:cNvSpPr>
          <p:nvPr/>
        </p:nvSpPr>
        <p:spPr>
          <a:xfrm>
            <a:off x="9163050" y="3981450"/>
            <a:ext cx="2171700" cy="7239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275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532"/>
                </a:solidFill>
                <a:latin typeface="Arial"/>
                <a:ea typeface="Arial"/>
                <a:cs typeface="Arial"/>
              </a:rPr>
              <a:t>Период 2023-2025 показывает нормализацию и более слабые сигналы.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DB5983E-A34A-4BCB-BDF0-667B851D981C}"/>
              </a:ext>
            </a:extLst>
          </p:cNvPr>
          <p:cNvSpPr>
            <a:spLocks noGrp="1"/>
          </p:cNvSpPr>
          <p:nvPr/>
        </p:nvSpPr>
        <p:spPr>
          <a:xfrm>
            <a:off x="8686800" y="5200650"/>
            <a:ext cx="2819400" cy="628650"/>
          </a:xfrm>
          <a:prstGeom prst="roundRect">
            <a:avLst>
              <a:gd name="adj" fmla="val 9091"/>
            </a:avLst>
          </a:prstGeom>
          <a:solidFill>
            <a:srgbClr val="F6F8FB"/>
          </a:solidFill>
          <a:ln w="19050">
            <a:solidFill>
              <a:srgbClr val="4C8E3F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17075F-993B-4C15-B355-EE6733EB35C5}"/>
              </a:ext>
            </a:extLst>
          </p:cNvPr>
          <p:cNvSpPr>
            <a:spLocks noGrp="1"/>
          </p:cNvSpPr>
          <p:nvPr/>
        </p:nvSpPr>
        <p:spPr>
          <a:xfrm>
            <a:off x="8858250" y="5334000"/>
            <a:ext cx="2476500" cy="36195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78704" lnSpcReduction="10000"/>
          </a:bodyPr>
          <a:lstStyle/>
          <a:p>
            <a:pPr algn="l">
              <a:defRPr sz="1350">
                <a:solidFill>
                  <a:srgbClr val="2025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202532"/>
                </a:solidFill>
                <a:latin typeface="Times New Roman"/>
                <a:ea typeface="Times New Roman"/>
                <a:cs typeface="Times New Roman"/>
              </a:rPr>
              <a:t>Одногодичный прототип заменен многолетней rolling-проверкой.</a:t>
            </a:r>
          </a:p>
        </p:txBody>
      </p:sp>
    </p:spTree>
    <p:extLst>
      <p:ext uri="{BB962C8B-B14F-4D97-AF65-F5344CB8AC3E}">
        <p14:creationId xmlns:p14="http://schemas.microsoft.com/office/powerpoint/2010/main" val="2090079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4C491F9-0151-4767-A1E8-131BC8A7EA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055BB"/>
          </a:solidFill>
        </p:spPr>
        <p:txBody>
          <a:bodyPr/>
          <a:lstStyle/>
          <a:p>
            <a:endParaRPr lang="ru-RU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10750" y="232064"/>
            <a:ext cx="1771650" cy="6979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6C0B59C-90CA-406A-8D3B-D1114BF2C0FD}"/>
              </a:ext>
            </a:extLst>
          </p:cNvPr>
          <p:cNvSpPr>
            <a:spLocks noGrp="1"/>
          </p:cNvSpPr>
          <p:nvPr/>
        </p:nvSpPr>
        <p:spPr>
          <a:xfrm>
            <a:off x="647700" y="352425"/>
            <a:ext cx="8286750" cy="552450"/>
          </a:xfrm>
          <a:prstGeom prst="rect">
            <a:avLst/>
          </a:prstGeom>
        </p:spPr>
        <p:txBody>
          <a:bodyPr wrap="square" lIns="19050" tIns="19050" rIns="19050" bIns="19050" anchor="ctr">
            <a:normAutofit fontScale="74972" lnSpcReduction="20000"/>
          </a:bodyPr>
          <a:lstStyle/>
          <a:p>
            <a:pPr algn="l">
              <a:defRPr sz="27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Результаты: LLM-гибрид лидирует по направлению, но прирост мал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9275E8-504B-4F0C-8292-2E68BDFD72A0}"/>
              </a:ext>
            </a:extLst>
          </p:cNvPr>
          <p:cNvSpPr>
            <a:spLocks noGrp="1"/>
          </p:cNvSpPr>
          <p:nvPr/>
        </p:nvSpPr>
        <p:spPr>
          <a:xfrm>
            <a:off x="11696700" y="6419850"/>
            <a:ext cx="266700" cy="2286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88888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D91107-A84F-4EB6-97E8-7BF4B3E00F70}"/>
              </a:ext>
            </a:extLst>
          </p:cNvPr>
          <p:cNvSpPr>
            <a:spLocks noGrp="1"/>
          </p:cNvSpPr>
          <p:nvPr/>
        </p:nvSpPr>
        <p:spPr>
          <a:xfrm>
            <a:off x="447675" y="1495425"/>
            <a:ext cx="7115175" cy="4352925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9365" y="1504950"/>
            <a:ext cx="7091795" cy="43338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2A666E7-1557-4E67-9309-3CA07A0C1D4C}"/>
              </a:ext>
            </a:extLst>
          </p:cNvPr>
          <p:cNvSpPr>
            <a:spLocks noGrp="1"/>
          </p:cNvSpPr>
          <p:nvPr/>
        </p:nvSpPr>
        <p:spPr>
          <a:xfrm>
            <a:off x="8096250" y="1619250"/>
            <a:ext cx="2381250" cy="4191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8039"/>
          </a:bodyPr>
          <a:lstStyle/>
          <a:p>
            <a:pPr algn="l">
              <a:defRPr sz="2550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5BB"/>
                </a:solidFill>
                <a:latin typeface="Arial"/>
                <a:ea typeface="Arial"/>
                <a:cs typeface="Arial"/>
              </a:rPr>
              <a:t>0,516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8301EF-0EC9-4F92-877F-D453A475FF4B}"/>
              </a:ext>
            </a:extLst>
          </p:cNvPr>
          <p:cNvSpPr>
            <a:spLocks noGrp="1"/>
          </p:cNvSpPr>
          <p:nvPr/>
        </p:nvSpPr>
        <p:spPr>
          <a:xfrm>
            <a:off x="8096250" y="2038350"/>
            <a:ext cx="2381250" cy="4572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88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5C6470"/>
                </a:solidFill>
                <a:latin typeface="Arial"/>
                <a:ea typeface="Arial"/>
                <a:cs typeface="Arial"/>
              </a:rPr>
              <a:t>Accuracy LLM-гибрида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63CBB3-5DAB-4243-BCF9-62F4847B3315}"/>
              </a:ext>
            </a:extLst>
          </p:cNvPr>
          <p:cNvSpPr>
            <a:spLocks noGrp="1"/>
          </p:cNvSpPr>
          <p:nvPr/>
        </p:nvSpPr>
        <p:spPr>
          <a:xfrm>
            <a:off x="8096250" y="2524125"/>
            <a:ext cx="2381250" cy="4191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8039"/>
          </a:bodyPr>
          <a:lstStyle/>
          <a:p>
            <a:pPr algn="l">
              <a:defRPr sz="2550">
                <a:solidFill>
                  <a:srgbClr val="4C8E3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E3F"/>
                </a:solidFill>
                <a:latin typeface="Arial"/>
                <a:ea typeface="Arial"/>
                <a:cs typeface="Arial"/>
              </a:rPr>
              <a:t>0,514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733467-7473-4CDD-8894-41CCFB0AE591}"/>
              </a:ext>
            </a:extLst>
          </p:cNvPr>
          <p:cNvSpPr>
            <a:spLocks noGrp="1"/>
          </p:cNvSpPr>
          <p:nvPr/>
        </p:nvSpPr>
        <p:spPr>
          <a:xfrm>
            <a:off x="8096250" y="2943225"/>
            <a:ext cx="2381250" cy="4572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88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5C6470"/>
                </a:solidFill>
                <a:latin typeface="Arial"/>
                <a:ea typeface="Arial"/>
                <a:cs typeface="Arial"/>
              </a:rPr>
              <a:t>Accuracy market-only модели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EDBCCF-C568-486A-B258-7F1FA250CDC4}"/>
              </a:ext>
            </a:extLst>
          </p:cNvPr>
          <p:cNvSpPr>
            <a:spLocks noGrp="1"/>
          </p:cNvSpPr>
          <p:nvPr/>
        </p:nvSpPr>
        <p:spPr>
          <a:xfrm>
            <a:off x="8096250" y="3429000"/>
            <a:ext cx="2476500" cy="4191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8039"/>
          </a:bodyPr>
          <a:lstStyle/>
          <a:p>
            <a:pPr algn="l">
              <a:defRPr sz="2550">
                <a:solidFill>
                  <a:srgbClr val="C894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89400"/>
                </a:solidFill>
                <a:latin typeface="Arial"/>
                <a:ea typeface="Arial"/>
                <a:cs typeface="Arial"/>
              </a:rPr>
              <a:t>+0,19 п.п.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57CB18-64F6-4202-AAD7-A5D50E0BFD7B}"/>
              </a:ext>
            </a:extLst>
          </p:cNvPr>
          <p:cNvSpPr>
            <a:spLocks noGrp="1"/>
          </p:cNvSpPr>
          <p:nvPr/>
        </p:nvSpPr>
        <p:spPr>
          <a:xfrm>
            <a:off x="8096250" y="3848100"/>
            <a:ext cx="2476500" cy="4572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88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5C6470"/>
                </a:solidFill>
                <a:latin typeface="Arial"/>
                <a:ea typeface="Arial"/>
                <a:cs typeface="Arial"/>
              </a:rPr>
              <a:t>разница по направленной точности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F5ABAC-1DF5-4CCA-961F-3F4328F40181}"/>
              </a:ext>
            </a:extLst>
          </p:cNvPr>
          <p:cNvSpPr>
            <a:spLocks noGrp="1"/>
          </p:cNvSpPr>
          <p:nvPr/>
        </p:nvSpPr>
        <p:spPr>
          <a:xfrm>
            <a:off x="8096250" y="4333875"/>
            <a:ext cx="2952750" cy="4191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8039"/>
          </a:bodyPr>
          <a:lstStyle/>
          <a:p>
            <a:pPr algn="l">
              <a:defRPr sz="2550">
                <a:solidFill>
                  <a:srgbClr val="C436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4362E"/>
                </a:solidFill>
                <a:latin typeface="Arial"/>
                <a:ea typeface="Arial"/>
                <a:cs typeface="Arial"/>
              </a:rPr>
              <a:t>p=0,928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34CAFD-BD83-4DB4-8C68-1983B05758A8}"/>
              </a:ext>
            </a:extLst>
          </p:cNvPr>
          <p:cNvSpPr>
            <a:spLocks noGrp="1"/>
          </p:cNvSpPr>
          <p:nvPr/>
        </p:nvSpPr>
        <p:spPr>
          <a:xfrm>
            <a:off x="8096250" y="4752975"/>
            <a:ext cx="2952750" cy="4572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088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5C6470"/>
                </a:solidFill>
                <a:latin typeface="Arial"/>
                <a:ea typeface="Arial"/>
                <a:cs typeface="Arial"/>
              </a:rPr>
              <a:t>McNemar против market-only: значимость не подтверждена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004DB85-A6F1-4991-8B09-31B2F25CC6A8}"/>
              </a:ext>
            </a:extLst>
          </p:cNvPr>
          <p:cNvSpPr>
            <a:spLocks noGrp="1"/>
          </p:cNvSpPr>
          <p:nvPr/>
        </p:nvSpPr>
        <p:spPr>
          <a:xfrm>
            <a:off x="7810500" y="5314950"/>
            <a:ext cx="3524250" cy="742950"/>
          </a:xfrm>
          <a:prstGeom prst="roundRect">
            <a:avLst>
              <a:gd name="adj" fmla="val 7692"/>
            </a:avLst>
          </a:prstGeom>
          <a:solidFill>
            <a:srgbClr val="F6F8FB"/>
          </a:solidFill>
          <a:ln w="19050">
            <a:solidFill>
              <a:srgbClr val="C4362E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181E91-1092-43A9-8BB5-1ADDA7C4EBE4}"/>
              </a:ext>
            </a:extLst>
          </p:cNvPr>
          <p:cNvSpPr>
            <a:spLocks noGrp="1"/>
          </p:cNvSpPr>
          <p:nvPr/>
        </p:nvSpPr>
        <p:spPr>
          <a:xfrm>
            <a:off x="7981950" y="5448300"/>
            <a:ext cx="3181350" cy="47625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71931" lnSpcReduction="10000"/>
          </a:bodyPr>
          <a:lstStyle/>
          <a:p>
            <a:pPr algn="l">
              <a:defRPr sz="1350">
                <a:solidFill>
                  <a:srgbClr val="2025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202532"/>
                </a:solidFill>
                <a:latin typeface="Times New Roman"/>
                <a:ea typeface="Times New Roman"/>
                <a:cs typeface="Times New Roman"/>
              </a:rPr>
              <a:t>Вывод не должен звучать как универсальное превосходство LLM: по RMSE доходности LLM-гибрид не лучший.</a:t>
            </a:r>
          </a:p>
        </p:txBody>
      </p:sp>
    </p:spTree>
    <p:extLst>
      <p:ext uri="{BB962C8B-B14F-4D97-AF65-F5344CB8AC3E}">
        <p14:creationId xmlns:p14="http://schemas.microsoft.com/office/powerpoint/2010/main" val="1663056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AF3BF46-48CF-4CB3-8A79-61BDC7F439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055BB"/>
          </a:solidFill>
        </p:spPr>
        <p:txBody>
          <a:bodyPr/>
          <a:lstStyle/>
          <a:p>
            <a:endParaRPr lang="ru-RU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10750" y="232064"/>
            <a:ext cx="1771650" cy="6979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58B35B-2266-4CDD-826F-61F4E6836B43}"/>
              </a:ext>
            </a:extLst>
          </p:cNvPr>
          <p:cNvSpPr>
            <a:spLocks noGrp="1"/>
          </p:cNvSpPr>
          <p:nvPr/>
        </p:nvSpPr>
        <p:spPr>
          <a:xfrm>
            <a:off x="647700" y="352425"/>
            <a:ext cx="8286750" cy="552450"/>
          </a:xfrm>
          <a:prstGeom prst="rect">
            <a:avLst/>
          </a:prstGeom>
        </p:spPr>
        <p:txBody>
          <a:bodyPr wrap="square" lIns="19050" tIns="19050" rIns="19050" bIns="19050" anchor="ctr">
            <a:normAutofit fontScale="91623"/>
          </a:bodyPr>
          <a:lstStyle/>
          <a:p>
            <a:pPr algn="l">
              <a:defRPr sz="27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Устойчивость: вклад новостных признаков неоднороден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6BD31C-3631-414A-87B3-5C2B27DCD9CF}"/>
              </a:ext>
            </a:extLst>
          </p:cNvPr>
          <p:cNvSpPr>
            <a:spLocks noGrp="1"/>
          </p:cNvSpPr>
          <p:nvPr/>
        </p:nvSpPr>
        <p:spPr>
          <a:xfrm>
            <a:off x="11696700" y="6419850"/>
            <a:ext cx="266700" cy="2286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88888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2E77ED-4837-489A-865C-0C60883E1953}"/>
              </a:ext>
            </a:extLst>
          </p:cNvPr>
          <p:cNvSpPr>
            <a:spLocks noGrp="1"/>
          </p:cNvSpPr>
          <p:nvPr/>
        </p:nvSpPr>
        <p:spPr>
          <a:xfrm>
            <a:off x="352425" y="1466850"/>
            <a:ext cx="5448300" cy="30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61950" y="1482725"/>
            <a:ext cx="5429250" cy="30162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FA10DC0-9FAA-45B8-9A4D-FCE1B31FEF44}"/>
              </a:ext>
            </a:extLst>
          </p:cNvPr>
          <p:cNvSpPr>
            <a:spLocks noGrp="1"/>
          </p:cNvSpPr>
          <p:nvPr/>
        </p:nvSpPr>
        <p:spPr>
          <a:xfrm>
            <a:off x="6181725" y="1466850"/>
            <a:ext cx="5448300" cy="30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191250" y="1482725"/>
            <a:ext cx="5429250" cy="301625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AF6625E-8979-4E39-919B-4847967BA19B}"/>
              </a:ext>
            </a:extLst>
          </p:cNvPr>
          <p:cNvSpPr>
            <a:spLocks noGrp="1"/>
          </p:cNvSpPr>
          <p:nvPr/>
        </p:nvSpPr>
        <p:spPr>
          <a:xfrm>
            <a:off x="723900" y="4810125"/>
            <a:ext cx="3143250" cy="1066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EDE031-3AAB-4D23-AD56-4649E2F1B687}"/>
              </a:ext>
            </a:extLst>
          </p:cNvPr>
          <p:cNvSpPr>
            <a:spLocks noGrp="1"/>
          </p:cNvSpPr>
          <p:nvPr/>
        </p:nvSpPr>
        <p:spPr>
          <a:xfrm>
            <a:off x="723900" y="4810125"/>
            <a:ext cx="66675" cy="1066800"/>
          </a:xfrm>
          <a:prstGeom prst="rect">
            <a:avLst/>
          </a:prstGeom>
          <a:solidFill>
            <a:srgbClr val="4C8E3F"/>
          </a:solidFill>
        </p:spPr>
        <p:txBody>
          <a:bodyPr/>
          <a:lstStyle/>
          <a:p>
            <a:endParaRPr lang="ru-R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2618E7-A3D1-4604-9F03-83049B85A20A}"/>
              </a:ext>
            </a:extLst>
          </p:cNvPr>
          <p:cNvSpPr>
            <a:spLocks noGrp="1"/>
          </p:cNvSpPr>
          <p:nvPr/>
        </p:nvSpPr>
        <p:spPr>
          <a:xfrm>
            <a:off x="933450" y="4962525"/>
            <a:ext cx="274320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532"/>
                </a:solidFill>
                <a:latin typeface="Arial"/>
                <a:ea typeface="Arial"/>
                <a:cs typeface="Arial"/>
              </a:rPr>
              <a:t>Сильнее всего в абляции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142FB9-E66F-45F8-89DF-130BBD1C4407}"/>
              </a:ext>
            </a:extLst>
          </p:cNvPr>
          <p:cNvSpPr>
            <a:spLocks noGrp="1"/>
          </p:cNvSpPr>
          <p:nvPr/>
        </p:nvSpPr>
        <p:spPr>
          <a:xfrm>
            <a:off x="933450" y="5324475"/>
            <a:ext cx="2743200" cy="4572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87909" lnSpcReduction="10000"/>
          </a:bodyPr>
          <a:lstStyle/>
          <a:p>
            <a:pPr algn="l">
              <a:defRPr sz="114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140">
                <a:solidFill>
                  <a:srgbClr val="5C6470"/>
                </a:solidFill>
                <a:latin typeface="Arial"/>
                <a:ea typeface="Arial"/>
                <a:cs typeface="Arial"/>
              </a:rPr>
              <a:t>удаление интенсивности снижает Accuracy примерно на 1,02 п.п.; удаление неопределенности - на 0,89 п.п.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C269F25-2AD0-4760-80B1-7E8782AE4EB2}"/>
              </a:ext>
            </a:extLst>
          </p:cNvPr>
          <p:cNvSpPr>
            <a:spLocks noGrp="1"/>
          </p:cNvSpPr>
          <p:nvPr/>
        </p:nvSpPr>
        <p:spPr>
          <a:xfrm>
            <a:off x="4476750" y="4810125"/>
            <a:ext cx="3143250" cy="1066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93486D-BAB6-4188-8ED2-730CDF28A8FD}"/>
              </a:ext>
            </a:extLst>
          </p:cNvPr>
          <p:cNvSpPr>
            <a:spLocks noGrp="1"/>
          </p:cNvSpPr>
          <p:nvPr/>
        </p:nvSpPr>
        <p:spPr>
          <a:xfrm>
            <a:off x="4476750" y="4810125"/>
            <a:ext cx="66675" cy="1066800"/>
          </a:xfrm>
          <a:prstGeom prst="rect">
            <a:avLst/>
          </a:prstGeom>
          <a:solidFill>
            <a:srgbClr val="7B61A8"/>
          </a:solidFill>
        </p:spPr>
        <p:txBody>
          <a:bodyPr/>
          <a:lstStyle/>
          <a:p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174C73-0832-4735-ADC7-FECB4A49D7EA}"/>
              </a:ext>
            </a:extLst>
          </p:cNvPr>
          <p:cNvSpPr>
            <a:spLocks noGrp="1"/>
          </p:cNvSpPr>
          <p:nvPr/>
        </p:nvSpPr>
        <p:spPr>
          <a:xfrm>
            <a:off x="4686300" y="4962525"/>
            <a:ext cx="274320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532"/>
                </a:solidFill>
                <a:latin typeface="Arial"/>
                <a:ea typeface="Arial"/>
                <a:cs typeface="Arial"/>
              </a:rPr>
              <a:t>Лаговый эффект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848C0A-EB07-4AEE-B706-F00A34204BBE}"/>
              </a:ext>
            </a:extLst>
          </p:cNvPr>
          <p:cNvSpPr>
            <a:spLocks noGrp="1"/>
          </p:cNvSpPr>
          <p:nvPr/>
        </p:nvSpPr>
        <p:spPr>
          <a:xfrm>
            <a:off x="4686300" y="5324475"/>
            <a:ext cx="2743200" cy="4572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0720" lnSpcReduction="10000"/>
          </a:bodyPr>
          <a:lstStyle/>
          <a:p>
            <a:pPr algn="l">
              <a:defRPr sz="114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140">
                <a:solidFill>
                  <a:srgbClr val="5C6470"/>
                </a:solidFill>
                <a:latin typeface="Arial"/>
                <a:ea typeface="Arial"/>
                <a:cs typeface="Arial"/>
              </a:rPr>
              <a:t>для news_intensity_lag5 и lag10 связь с будущей доходностью положительная, но слабая.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F7A9FD4-CCEC-4A22-9F41-79E62962FF89}"/>
              </a:ext>
            </a:extLst>
          </p:cNvPr>
          <p:cNvSpPr>
            <a:spLocks noGrp="1"/>
          </p:cNvSpPr>
          <p:nvPr/>
        </p:nvSpPr>
        <p:spPr>
          <a:xfrm>
            <a:off x="8229600" y="4810125"/>
            <a:ext cx="3143250" cy="1066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6E8EC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A6D155-FBC0-4308-9156-6179B8E09A5A}"/>
              </a:ext>
            </a:extLst>
          </p:cNvPr>
          <p:cNvSpPr>
            <a:spLocks noGrp="1"/>
          </p:cNvSpPr>
          <p:nvPr/>
        </p:nvSpPr>
        <p:spPr>
          <a:xfrm>
            <a:off x="8229600" y="4810125"/>
            <a:ext cx="66675" cy="1066800"/>
          </a:xfrm>
          <a:prstGeom prst="rect">
            <a:avLst/>
          </a:prstGeom>
          <a:solidFill>
            <a:srgbClr val="C4362E"/>
          </a:solidFill>
        </p:spPr>
        <p:txBody>
          <a:bodyPr/>
          <a:lstStyle/>
          <a:p>
            <a:endParaRPr lang="ru-R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353527-BB6A-4105-A75D-92E373484D2B}"/>
              </a:ext>
            </a:extLst>
          </p:cNvPr>
          <p:cNvSpPr>
            <a:spLocks noGrp="1"/>
          </p:cNvSpPr>
          <p:nvPr/>
        </p:nvSpPr>
        <p:spPr>
          <a:xfrm>
            <a:off x="8439150" y="4962525"/>
            <a:ext cx="274320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2532"/>
                </a:solidFill>
                <a:latin typeface="Arial"/>
                <a:ea typeface="Arial"/>
                <a:cs typeface="Arial"/>
              </a:rPr>
              <a:t>Ограничение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3410A9-112B-4C14-8800-1853AF1F4466}"/>
              </a:ext>
            </a:extLst>
          </p:cNvPr>
          <p:cNvSpPr>
            <a:spLocks noGrp="1"/>
          </p:cNvSpPr>
          <p:nvPr/>
        </p:nvSpPr>
        <p:spPr>
          <a:xfrm>
            <a:off x="8439150" y="5324475"/>
            <a:ext cx="2743200" cy="45720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0753" lnSpcReduction="10000"/>
          </a:bodyPr>
          <a:lstStyle/>
          <a:p>
            <a:pPr algn="l">
              <a:defRPr sz="114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140">
                <a:solidFill>
                  <a:srgbClr val="5C6470"/>
                </a:solidFill>
                <a:latin typeface="Arial"/>
                <a:ea typeface="Arial"/>
                <a:cs typeface="Arial"/>
              </a:rPr>
              <a:t>исключение тематик слегка улучшает результат, поэтому часть LLM-признаков нестабильна.</a:t>
            </a:r>
          </a:p>
        </p:txBody>
      </p:sp>
    </p:spTree>
    <p:extLst>
      <p:ext uri="{BB962C8B-B14F-4D97-AF65-F5344CB8AC3E}">
        <p14:creationId xmlns:p14="http://schemas.microsoft.com/office/powerpoint/2010/main" val="741058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699AA40-F44F-49F8-B36B-0F6FB15C7A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055BB"/>
          </a:solidFill>
        </p:spPr>
        <p:txBody>
          <a:bodyPr/>
          <a:lstStyle/>
          <a:p>
            <a:endParaRPr lang="ru-RU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10750" y="232064"/>
            <a:ext cx="1771650" cy="6979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037B4D-16A8-42EA-874F-964BB7A2F630}"/>
              </a:ext>
            </a:extLst>
          </p:cNvPr>
          <p:cNvSpPr>
            <a:spLocks noGrp="1"/>
          </p:cNvSpPr>
          <p:nvPr/>
        </p:nvSpPr>
        <p:spPr>
          <a:xfrm>
            <a:off x="647700" y="352425"/>
            <a:ext cx="8286750" cy="552450"/>
          </a:xfrm>
          <a:prstGeom prst="rect">
            <a:avLst/>
          </a:prstGeom>
        </p:spPr>
        <p:txBody>
          <a:bodyPr wrap="square" lIns="19050" tIns="19050" rIns="19050" bIns="19050" anchor="ctr">
            <a:normAutofit fontScale="84931" lnSpcReduction="10000"/>
          </a:bodyPr>
          <a:lstStyle/>
          <a:p>
            <a:pPr algn="l">
              <a:defRPr sz="27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Итог: цель достигнута как исследовательская проверка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BC6D70-F82B-4C74-BA6A-E6D672AD1334}"/>
              </a:ext>
            </a:extLst>
          </p:cNvPr>
          <p:cNvSpPr>
            <a:spLocks noGrp="1"/>
          </p:cNvSpPr>
          <p:nvPr/>
        </p:nvSpPr>
        <p:spPr>
          <a:xfrm>
            <a:off x="11696700" y="6419850"/>
            <a:ext cx="266700" cy="2286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r"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88888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AF4A20-8CC1-4BF7-B0DE-67EA0CB75FE0}"/>
              </a:ext>
            </a:extLst>
          </p:cNvPr>
          <p:cNvSpPr>
            <a:spLocks noGrp="1"/>
          </p:cNvSpPr>
          <p:nvPr/>
        </p:nvSpPr>
        <p:spPr>
          <a:xfrm>
            <a:off x="819150" y="1562100"/>
            <a:ext cx="2381250" cy="28575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7778" lnSpcReduction="10000"/>
          </a:bodyPr>
          <a:lstStyle/>
          <a:p>
            <a:pPr algn="l">
              <a:defRPr sz="1800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55BB"/>
                </a:solidFill>
                <a:latin typeface="Arial"/>
                <a:ea typeface="Arial"/>
                <a:cs typeface="Arial"/>
              </a:rPr>
              <a:t>Что получилось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FB6E5D-E005-4919-8A92-033749E97917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22860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55B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42B1A7-8FA1-470E-8A2D-C3656ACD59B3}"/>
              </a:ext>
            </a:extLst>
          </p:cNvPr>
          <p:cNvSpPr>
            <a:spLocks noGrp="1"/>
          </p:cNvSpPr>
          <p:nvPr/>
        </p:nvSpPr>
        <p:spPr>
          <a:xfrm>
            <a:off x="1181100" y="2076450"/>
            <a:ext cx="4457700" cy="5334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532"/>
                </a:solidFill>
                <a:latin typeface="Arial"/>
                <a:ea typeface="Arial"/>
                <a:cs typeface="Arial"/>
              </a:rPr>
              <a:t>разработана многоагентная архитектура обработки рыночных и новостных событий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2CE895-CDC5-4AEB-ABDE-10B497A715EB}"/>
              </a:ext>
            </a:extLst>
          </p:cNvPr>
          <p:cNvSpPr>
            <a:spLocks noGrp="1"/>
          </p:cNvSpPr>
          <p:nvPr/>
        </p:nvSpPr>
        <p:spPr>
          <a:xfrm>
            <a:off x="876300" y="2800350"/>
            <a:ext cx="22860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55B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D48A52-12B6-4466-91C5-17869D1CDEE1}"/>
              </a:ext>
            </a:extLst>
          </p:cNvPr>
          <p:cNvSpPr>
            <a:spLocks noGrp="1"/>
          </p:cNvSpPr>
          <p:nvPr/>
        </p:nvSpPr>
        <p:spPr>
          <a:xfrm>
            <a:off x="1181100" y="2781300"/>
            <a:ext cx="4457700" cy="5334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532"/>
                </a:solidFill>
                <a:latin typeface="Arial"/>
                <a:ea typeface="Arial"/>
                <a:cs typeface="Arial"/>
              </a:rPr>
              <a:t>реализован pipeline с Qwen-разметкой, кэшем, rolling-валидацией и метриками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6AF8B0-ECCB-4A00-9DF5-904A739D705D}"/>
              </a:ext>
            </a:extLst>
          </p:cNvPr>
          <p:cNvSpPr>
            <a:spLocks noGrp="1"/>
          </p:cNvSpPr>
          <p:nvPr/>
        </p:nvSpPr>
        <p:spPr>
          <a:xfrm>
            <a:off x="876300" y="3505200"/>
            <a:ext cx="22860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55B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D3F8F0-8117-43EE-8F90-787FCAB404C4}"/>
              </a:ext>
            </a:extLst>
          </p:cNvPr>
          <p:cNvSpPr>
            <a:spLocks noGrp="1"/>
          </p:cNvSpPr>
          <p:nvPr/>
        </p:nvSpPr>
        <p:spPr>
          <a:xfrm>
            <a:off x="1181100" y="3486150"/>
            <a:ext cx="4457700" cy="5334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532"/>
                </a:solidFill>
                <a:latin typeface="Arial"/>
                <a:ea typeface="Arial"/>
                <a:cs typeface="Arial"/>
              </a:rPr>
              <a:t>получен небольшой прирост направленного сигнала LLM-гибрида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87E4FC-8DD1-4E11-A16C-C956DAA0D331}"/>
              </a:ext>
            </a:extLst>
          </p:cNvPr>
          <p:cNvSpPr>
            <a:spLocks noGrp="1"/>
          </p:cNvSpPr>
          <p:nvPr/>
        </p:nvSpPr>
        <p:spPr>
          <a:xfrm>
            <a:off x="6381750" y="1562100"/>
            <a:ext cx="3429000" cy="285750"/>
          </a:xfrm>
          <a:prstGeom prst="rect">
            <a:avLst/>
          </a:prstGeom>
        </p:spPr>
        <p:txBody>
          <a:bodyPr wrap="square" lIns="19050" tIns="19050" rIns="19050" bIns="19050" anchor="t">
            <a:normAutofit fontScale="97778" lnSpcReduction="10000"/>
          </a:bodyPr>
          <a:lstStyle/>
          <a:p>
            <a:pPr algn="l">
              <a:defRPr sz="1800">
                <a:solidFill>
                  <a:srgbClr val="C436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4362E"/>
                </a:solidFill>
                <a:latin typeface="Arial"/>
                <a:ea typeface="Arial"/>
                <a:cs typeface="Arial"/>
              </a:rPr>
              <a:t>Осторожная интерпретация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3D6685-AF90-42A1-98B1-FF2B0F3DB4EF}"/>
              </a:ext>
            </a:extLst>
          </p:cNvPr>
          <p:cNvSpPr>
            <a:spLocks noGrp="1"/>
          </p:cNvSpPr>
          <p:nvPr/>
        </p:nvSpPr>
        <p:spPr>
          <a:xfrm>
            <a:off x="6438900" y="2095500"/>
            <a:ext cx="22860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>
                <a:solidFill>
                  <a:srgbClr val="C436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436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859891-D7BC-4AFE-96CE-138AD2AA1317}"/>
              </a:ext>
            </a:extLst>
          </p:cNvPr>
          <p:cNvSpPr>
            <a:spLocks noGrp="1"/>
          </p:cNvSpPr>
          <p:nvPr/>
        </p:nvSpPr>
        <p:spPr>
          <a:xfrm>
            <a:off x="6743700" y="2076450"/>
            <a:ext cx="4324350" cy="62865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532"/>
                </a:solidFill>
                <a:latin typeface="Arial"/>
                <a:ea typeface="Arial"/>
                <a:cs typeface="Arial"/>
              </a:rPr>
              <a:t>доверительные интервалы пересекаются; McNemar не подтверждает значимое отличие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7A1260-6D49-4D74-8E87-DE636EB51935}"/>
              </a:ext>
            </a:extLst>
          </p:cNvPr>
          <p:cNvSpPr>
            <a:spLocks noGrp="1"/>
          </p:cNvSpPr>
          <p:nvPr/>
        </p:nvSpPr>
        <p:spPr>
          <a:xfrm>
            <a:off x="6438900" y="2914650"/>
            <a:ext cx="22860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>
                <a:solidFill>
                  <a:srgbClr val="C436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436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E2A2B1-422C-49A7-8C0F-0FE66A58DA1E}"/>
              </a:ext>
            </a:extLst>
          </p:cNvPr>
          <p:cNvSpPr>
            <a:spLocks noGrp="1"/>
          </p:cNvSpPr>
          <p:nvPr/>
        </p:nvSpPr>
        <p:spPr>
          <a:xfrm>
            <a:off x="6743700" y="2895600"/>
            <a:ext cx="4324350" cy="55245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532"/>
                </a:solidFill>
                <a:latin typeface="Arial"/>
                <a:ea typeface="Arial"/>
                <a:cs typeface="Arial"/>
              </a:rPr>
              <a:t>разметка выполнена по заголовкам, а не по полным текстам публикаций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B2977B-34C8-4F4F-9D28-D440B26E26E6}"/>
              </a:ext>
            </a:extLst>
          </p:cNvPr>
          <p:cNvSpPr>
            <a:spLocks noGrp="1"/>
          </p:cNvSpPr>
          <p:nvPr/>
        </p:nvSpPr>
        <p:spPr>
          <a:xfrm>
            <a:off x="6438900" y="3676650"/>
            <a:ext cx="228600" cy="2667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>
                <a:solidFill>
                  <a:srgbClr val="C436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4362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22441E-1F3C-496D-87A0-B513047BEC49}"/>
              </a:ext>
            </a:extLst>
          </p:cNvPr>
          <p:cNvSpPr>
            <a:spLocks noGrp="1"/>
          </p:cNvSpPr>
          <p:nvPr/>
        </p:nvSpPr>
        <p:spPr>
          <a:xfrm>
            <a:off x="6743700" y="3657600"/>
            <a:ext cx="4324350" cy="66675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425">
                <a:solidFill>
                  <a:srgbClr val="20253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532"/>
                </a:solidFill>
                <a:latin typeface="Arial"/>
                <a:ea typeface="Arial"/>
                <a:cs typeface="Arial"/>
              </a:rPr>
              <a:t>торговая интерпретация не учитывает комиссии, проскальзывание и риск-менеджмент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7C92D83-F230-46C3-B11D-EBC7D7DC3533}"/>
              </a:ext>
            </a:extLst>
          </p:cNvPr>
          <p:cNvSpPr>
            <a:spLocks noGrp="1"/>
          </p:cNvSpPr>
          <p:nvPr/>
        </p:nvSpPr>
        <p:spPr>
          <a:xfrm>
            <a:off x="1123950" y="5191125"/>
            <a:ext cx="9906000" cy="723900"/>
          </a:xfrm>
          <a:prstGeom prst="roundRect">
            <a:avLst>
              <a:gd name="adj" fmla="val 7895"/>
            </a:avLst>
          </a:prstGeom>
          <a:solidFill>
            <a:srgbClr val="F6F8FB"/>
          </a:solidFill>
          <a:ln w="19050">
            <a:solidFill>
              <a:srgbClr val="0055BB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51C8A5-3BEC-4A01-99A6-85CB54821AB2}"/>
              </a:ext>
            </a:extLst>
          </p:cNvPr>
          <p:cNvSpPr>
            <a:spLocks noGrp="1"/>
          </p:cNvSpPr>
          <p:nvPr/>
        </p:nvSpPr>
        <p:spPr>
          <a:xfrm>
            <a:off x="1295400" y="5324475"/>
            <a:ext cx="9563100" cy="457200"/>
          </a:xfrm>
          <a:prstGeom prst="rect">
            <a:avLst/>
          </a:prstGeom>
        </p:spPr>
        <p:txBody>
          <a:bodyPr wrap="square" lIns="19050" tIns="19050" rIns="19050" bIns="19050" anchor="t">
            <a:normAutofit/>
          </a:bodyPr>
          <a:lstStyle/>
          <a:p>
            <a:pPr algn="l">
              <a:defRPr sz="1350">
                <a:solidFill>
                  <a:srgbClr val="2025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202532"/>
                </a:solidFill>
                <a:latin typeface="Times New Roman"/>
                <a:ea typeface="Times New Roman"/>
                <a:cs typeface="Times New Roman"/>
              </a:rPr>
              <a:t>Основной результат ВКР: LLM-признаки полезны как проверяемый блок факторов, но требуют статистической верификации и не заменяют рыночные baseline-модели.</a:t>
            </a:r>
          </a:p>
        </p:txBody>
      </p:sp>
    </p:spTree>
    <p:extLst>
      <p:ext uri="{BB962C8B-B14F-4D97-AF65-F5344CB8AC3E}">
        <p14:creationId xmlns:p14="http://schemas.microsoft.com/office/powerpoint/2010/main" val="7705947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749</Words>
  <Application>Microsoft Office PowerPoint</Application>
  <DocSecurity>0</DocSecurity>
  <PresentationFormat>Widescreen</PresentationFormat>
  <Paragraphs>139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2026-05-30T10:41:20Z</dcterms:created>
  <dcterms:modified xsi:type="dcterms:W3CDTF">2026-05-30T10:41:59Z</dcterms:modified>
</cp:coreProperties>
</file>