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67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7134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edzashita_mephi/media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502920"/>
            <a:ext cx="2496312" cy="1664208"/>
          </a:xfrm>
          <a:prstGeom prst="rect">
            <a:avLst/>
          </a:prstGeom>
        </p:spPr>
      </p:pic>
      <p:pic>
        <p:nvPicPr>
          <p:cNvPr id="3" name="Image 1" descr="/tmp/predzashita_mephi/media/image8.png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8458200" y="3721608"/>
            <a:ext cx="2834640" cy="21488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063240" y="256032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4E4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МИНИСТЕРСТВО НАУКИ И ВЫСШЕГО ОБРАЗОВАНИЯ РОССИЙСКОЙ ФЕДЕРАЦИИ</a:t>
            </a:r>
            <a:endParaRPr lang="en-US" sz="760" dirty="0"/>
          </a:p>
          <a:p>
            <a:pPr marL="0" indent="0" algn="ctr">
              <a:buNone/>
            </a:pPr>
            <a:r>
              <a:rPr lang="en-US" sz="760" dirty="0">
                <a:solidFill>
                  <a:srgbClr val="4E4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НАЦИОНАЛЬНЫЙ ИССЛЕДОВАТЕЛЬСКИЙ ЯДЕРНЫЙ УНИВЕРСИТЕТ «МИФИ»</a:t>
            </a:r>
            <a:endParaRPr lang="en-US" sz="760" dirty="0"/>
          </a:p>
          <a:p>
            <a:pPr marL="0" indent="0" algn="ctr">
              <a:buNone/>
            </a:pPr>
            <a:r>
              <a:rPr lang="en-US" sz="760" dirty="0">
                <a:solidFill>
                  <a:srgbClr val="4E4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ИНСТИТУТ ИНТЕЛЛЕКТУАЛЬНЫХ </a:t>
            </a:r>
            <a:r>
              <a:rPr lang="en-US" sz="760">
                <a:solidFill>
                  <a:srgbClr val="4E4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КИБЕРНЕТИЧЕСКИХ СИСТЕМ</a:t>
            </a:r>
            <a:endParaRPr lang="en-US" sz="760" dirty="0"/>
          </a:p>
        </p:txBody>
      </p:sp>
      <p:sp>
        <p:nvSpPr>
          <p:cNvPr id="5" name="Text 1"/>
          <p:cNvSpPr/>
          <p:nvPr/>
        </p:nvSpPr>
        <p:spPr>
          <a:xfrm>
            <a:off x="713232" y="2212848"/>
            <a:ext cx="7543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11" dirty="0">
                <a:solidFill>
                  <a:srgbClr val="0055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Многоагентная система на основе больших языковых моделей</a:t>
            </a:r>
            <a:endParaRPr lang="en-US" sz="2111" dirty="0"/>
          </a:p>
          <a:p>
            <a:pPr marL="0" indent="0" algn="l">
              <a:buNone/>
            </a:pPr>
            <a:r>
              <a:rPr lang="en-US" sz="2111" dirty="0">
                <a:solidFill>
                  <a:srgbClr val="0055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для решения исследовательских задач</a:t>
            </a:r>
            <a:endParaRPr lang="en-US" sz="2111" dirty="0"/>
          </a:p>
          <a:p>
            <a:pPr marL="0" indent="0" algn="l">
              <a:buNone/>
            </a:pPr>
            <a:r>
              <a:rPr lang="en-US" sz="2111" dirty="0">
                <a:solidFill>
                  <a:srgbClr val="0055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в области обработки естественного языка</a:t>
            </a:r>
            <a:endParaRPr lang="en-US" sz="2111" dirty="0"/>
          </a:p>
        </p:txBody>
      </p:sp>
      <p:sp>
        <p:nvSpPr>
          <p:cNvPr id="6" name="Text 2"/>
          <p:cNvSpPr/>
          <p:nvPr/>
        </p:nvSpPr>
        <p:spPr>
          <a:xfrm>
            <a:off x="749808" y="391363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Предзащита ВКР</a:t>
            </a:r>
            <a:endParaRPr lang="en-US" sz="1420" dirty="0"/>
          </a:p>
          <a:p>
            <a:pPr marL="0" indent="0" algn="l">
              <a:buNone/>
            </a:pPr>
            <a:r>
              <a:rPr lang="en-US" sz="14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 исследования: анализ новостных потоков и прогнозирование нефтегазового сектора</a:t>
            </a:r>
            <a:endParaRPr lang="en-US" sz="1420" dirty="0"/>
          </a:p>
        </p:txBody>
      </p:sp>
      <p:sp>
        <p:nvSpPr>
          <p:cNvPr id="7" name="Text 3"/>
          <p:cNvSpPr/>
          <p:nvPr/>
        </p:nvSpPr>
        <p:spPr>
          <a:xfrm>
            <a:off x="749808" y="50109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</a:t>
            </a:r>
            <a:r>
              <a:rPr lang="ru-RU" sz="14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Колесников В.В</a:t>
            </a:r>
            <a:r>
              <a:rPr lang="en-US" sz="14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., гр. </a:t>
            </a:r>
            <a:r>
              <a:rPr lang="ru-RU" sz="14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М24-525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49808" y="5340096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Научный руководитель: Золотарев А.М., к.т.н., доцент</a:t>
            </a:r>
            <a:endParaRPr lang="en-US" sz="1320" dirty="0"/>
          </a:p>
        </p:txBody>
      </p:sp>
      <p:sp>
        <p:nvSpPr>
          <p:cNvPr id="9" name="Shape 5"/>
          <p:cNvSpPr/>
          <p:nvPr/>
        </p:nvSpPr>
        <p:spPr>
          <a:xfrm>
            <a:off x="749808" y="5870448"/>
            <a:ext cx="5212080" cy="0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0055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6"/>
          <p:cNvSpPr/>
          <p:nvPr/>
        </p:nvSpPr>
        <p:spPr>
          <a:xfrm>
            <a:off x="4919472" y="6199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Москва,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5BB"/>
          </a:solidFill>
          <a:ln w="12700">
            <a:solidFill>
              <a:srgbClr val="0055B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" name="Image 0" descr="/tmp/predzashita_mephi/media/image2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9281160" y="0"/>
            <a:ext cx="2907792" cy="1005840"/>
          </a:xfrm>
          <a:prstGeom prst="rect">
            <a:avLst/>
          </a:prstGeom>
        </p:spPr>
      </p:pic>
      <p:pic>
        <p:nvPicPr>
          <p:cNvPr id="4" name="Image 1" descr="/tmp/predzashita_mephi/media/image1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0" y="1298448"/>
            <a:ext cx="777240" cy="1280160"/>
          </a:xfrm>
          <a:prstGeom prst="rect">
            <a:avLst/>
          </a:prstGeom>
        </p:spPr>
      </p:pic>
      <p:pic>
        <p:nvPicPr>
          <p:cNvPr id="5" name="Image 2" descr="/tmp/predzashita_mephi/media/image1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0" y="6245352"/>
            <a:ext cx="7772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58368" y="20116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Актуальность и постановка задачи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1164031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8" name="Shape 3"/>
          <p:cNvSpPr/>
          <p:nvPr/>
        </p:nvSpPr>
        <p:spPr>
          <a:xfrm>
            <a:off x="804672" y="1481328"/>
            <a:ext cx="5074920" cy="4526280"/>
          </a:xfrm>
          <a:prstGeom prst="roundRect">
            <a:avLst>
              <a:gd name="adj" fmla="val 1616"/>
            </a:avLst>
          </a:prstGeom>
          <a:solidFill>
            <a:srgbClr val="FAFAFA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4"/>
          <p:cNvSpPr/>
          <p:nvPr/>
        </p:nvSpPr>
        <p:spPr>
          <a:xfrm>
            <a:off x="1051560" y="1737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тема важна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024128" y="2029968"/>
            <a:ext cx="45720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4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Нефтегазовый рынок чувствителен к новостям, корпоративным сообщениям и геополитическим событиям.</a:t>
            </a:r>
            <a:endParaRPr lang="en-US" sz="1640" dirty="0"/>
          </a:p>
          <a:p>
            <a:pPr marL="0" indent="0">
              <a:buNone/>
            </a:pPr>
            <a:r>
              <a:rPr lang="en-US" sz="164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Классические статистические модели хорошо работают с временными рядами, но ограниченно используют смысл неструктурированного текста.</a:t>
            </a:r>
            <a:endParaRPr lang="en-US" sz="1640" dirty="0"/>
          </a:p>
          <a:p>
            <a:pPr marL="0" indent="0">
              <a:buNone/>
            </a:pPr>
            <a:r>
              <a:rPr lang="en-US" sz="164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и многоагентные системы позволяют извлекать события, тональность и контекст из новостных потоков и включать их в прогнозный контур.</a:t>
            </a:r>
            <a:endParaRPr lang="en-US" sz="1640" dirty="0"/>
          </a:p>
        </p:txBody>
      </p:sp>
      <p:sp>
        <p:nvSpPr>
          <p:cNvPr id="11" name="Shape 6"/>
          <p:cNvSpPr/>
          <p:nvPr/>
        </p:nvSpPr>
        <p:spPr>
          <a:xfrm>
            <a:off x="6199632" y="1481328"/>
            <a:ext cx="5212080" cy="4526280"/>
          </a:xfrm>
          <a:prstGeom prst="roundRect">
            <a:avLst>
              <a:gd name="adj" fmla="val 1616"/>
            </a:avLst>
          </a:prstGeom>
          <a:solidFill>
            <a:srgbClr val="FCFCFC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7"/>
          <p:cNvSpPr/>
          <p:nvPr/>
        </p:nvSpPr>
        <p:spPr>
          <a:xfrm>
            <a:off x="6364224" y="2871216"/>
            <a:ext cx="480060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8"/>
          <p:cNvSpPr/>
          <p:nvPr/>
        </p:nvSpPr>
        <p:spPr>
          <a:xfrm>
            <a:off x="6364224" y="4133088"/>
            <a:ext cx="480060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9"/>
          <p:cNvSpPr/>
          <p:nvPr/>
        </p:nvSpPr>
        <p:spPr>
          <a:xfrm>
            <a:off x="6473952" y="173736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473952" y="199339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Сравнить многоагентную LLM-архитектуру и статистические baseline-подходы при прогнозировании динамики нефтегазового сектора.</a:t>
            </a:r>
            <a:endParaRPr lang="en-US" sz="1520" dirty="0"/>
          </a:p>
        </p:txBody>
      </p:sp>
      <p:sp>
        <p:nvSpPr>
          <p:cNvPr id="16" name="Text 11"/>
          <p:cNvSpPr/>
          <p:nvPr/>
        </p:nvSpPr>
        <p:spPr>
          <a:xfrm>
            <a:off x="6473952" y="3044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73952" y="330098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Рыночные и новостные данные, связанные с нефтегазовым сектором.</a:t>
            </a:r>
            <a:endParaRPr lang="en-US" sz="1520" dirty="0"/>
          </a:p>
        </p:txBody>
      </p:sp>
      <p:sp>
        <p:nvSpPr>
          <p:cNvPr id="18" name="Text 13"/>
          <p:cNvSpPr/>
          <p:nvPr/>
        </p:nvSpPr>
        <p:spPr>
          <a:xfrm>
            <a:off x="6473952" y="430682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73952" y="45628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совместного использования текстовых и числовых данных для построения прогнозных сигналов.</a:t>
            </a:r>
            <a:endParaRPr lang="en-US" sz="1520" dirty="0"/>
          </a:p>
        </p:txBody>
      </p:sp>
      <p:sp>
        <p:nvSpPr>
          <p:cNvPr id="20" name="Text 15"/>
          <p:cNvSpPr/>
          <p:nvPr/>
        </p:nvSpPr>
        <p:spPr>
          <a:xfrm>
            <a:off x="877824" y="6199632"/>
            <a:ext cx="10012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постановка реализуется на кейсе прогнозирования биржевых рынков нефтегазового сектора по новостным потокам и котировкам.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5BB"/>
          </a:solidFill>
          <a:ln w="12700">
            <a:solidFill>
              <a:srgbClr val="0055B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" name="Image 0" descr="/tmp/predzashita_mephi/media/image2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9281160" y="0"/>
            <a:ext cx="2907792" cy="1005840"/>
          </a:xfrm>
          <a:prstGeom prst="rect">
            <a:avLst/>
          </a:prstGeom>
        </p:spPr>
      </p:pic>
      <p:pic>
        <p:nvPicPr>
          <p:cNvPr id="4" name="Image 1" descr="/tmp/predzashita_mephi/media/image1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0" y="1298448"/>
            <a:ext cx="777240" cy="1280160"/>
          </a:xfrm>
          <a:prstGeom prst="rect">
            <a:avLst/>
          </a:prstGeom>
        </p:spPr>
      </p:pic>
      <p:pic>
        <p:nvPicPr>
          <p:cNvPr id="5" name="Image 2" descr="/tmp/predzashita_mephi/media/image1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0" y="6245352"/>
            <a:ext cx="7772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58368" y="20116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Задачи ВКР и степень готовности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1164031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8" name="Shape 3"/>
          <p:cNvSpPr/>
          <p:nvPr/>
        </p:nvSpPr>
        <p:spPr>
          <a:xfrm>
            <a:off x="804672" y="1481328"/>
            <a:ext cx="10972800" cy="4443984"/>
          </a:xfrm>
          <a:prstGeom prst="roundRect">
            <a:avLst>
              <a:gd name="adj" fmla="val 1646"/>
            </a:avLst>
          </a:prstGeom>
          <a:solidFill>
            <a:srgbClr val="FAFAFA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4"/>
          <p:cNvSpPr/>
          <p:nvPr/>
        </p:nvSpPr>
        <p:spPr>
          <a:xfrm>
            <a:off x="987552" y="175564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DF0E0"/>
          </a:solidFill>
          <a:ln w="12700">
            <a:solidFill>
              <a:srgbClr val="B8DEB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5"/>
          <p:cNvSpPr/>
          <p:nvPr/>
        </p:nvSpPr>
        <p:spPr>
          <a:xfrm>
            <a:off x="987552" y="181965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682496" y="176479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агентов и протоколы обмена</a:t>
            </a:r>
            <a:endParaRPr lang="en-US" sz="1560" dirty="0"/>
          </a:p>
        </p:txBody>
      </p:sp>
      <p:sp>
        <p:nvSpPr>
          <p:cNvPr id="12" name="Text 7"/>
          <p:cNvSpPr/>
          <p:nvPr/>
        </p:nvSpPr>
        <p:spPr>
          <a:xfrm>
            <a:off x="1682496" y="2029968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Сформированы состав агентов, роли оркестратора и контура верификации; прототип и отладка остаются на следующий этап.</a:t>
            </a:r>
            <a:endParaRPr lang="en-US" sz="1280" dirty="0"/>
          </a:p>
        </p:txBody>
      </p:sp>
      <p:sp>
        <p:nvSpPr>
          <p:cNvPr id="13" name="Shape 8"/>
          <p:cNvSpPr/>
          <p:nvPr/>
        </p:nvSpPr>
        <p:spPr>
          <a:xfrm>
            <a:off x="8924544" y="1828800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E7F5EA"/>
          </a:solidFill>
          <a:ln w="12700">
            <a:solidFill>
              <a:srgbClr val="CDE8D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9"/>
          <p:cNvSpPr/>
          <p:nvPr/>
        </p:nvSpPr>
        <p:spPr>
          <a:xfrm>
            <a:off x="9006840" y="1874520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 в тексте</a:t>
            </a:r>
            <a:endParaRPr lang="en-US" sz="1180" dirty="0"/>
          </a:p>
        </p:txBody>
      </p:sp>
      <p:sp>
        <p:nvSpPr>
          <p:cNvPr id="15" name="Shape 10"/>
          <p:cNvSpPr/>
          <p:nvPr/>
        </p:nvSpPr>
        <p:spPr>
          <a:xfrm>
            <a:off x="987552" y="271576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DF0E0"/>
          </a:solidFill>
          <a:ln w="12700">
            <a:solidFill>
              <a:srgbClr val="B8DEB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1"/>
          <p:cNvSpPr/>
          <p:nvPr/>
        </p:nvSpPr>
        <p:spPr>
          <a:xfrm>
            <a:off x="987552" y="277977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682496" y="272491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Методика оценки характеристик новостей</a:t>
            </a:r>
            <a:endParaRPr lang="en-US" sz="1560" dirty="0"/>
          </a:p>
        </p:txBody>
      </p:sp>
      <p:sp>
        <p:nvSpPr>
          <p:cNvPr id="18" name="Text 13"/>
          <p:cNvSpPr/>
          <p:nvPr/>
        </p:nvSpPr>
        <p:spPr>
          <a:xfrm>
            <a:off x="1682496" y="2990088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Определены факторы тональности, интенсивности, тематики, лагов и типа источника; количественная проверка еще впереди.</a:t>
            </a:r>
            <a:endParaRPr lang="en-US" sz="1280" dirty="0"/>
          </a:p>
        </p:txBody>
      </p:sp>
      <p:sp>
        <p:nvSpPr>
          <p:cNvPr id="19" name="Shape 14"/>
          <p:cNvSpPr/>
          <p:nvPr/>
        </p:nvSpPr>
        <p:spPr>
          <a:xfrm>
            <a:off x="8924544" y="2788920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E7F5EA"/>
          </a:solidFill>
          <a:ln w="12700">
            <a:solidFill>
              <a:srgbClr val="CDE8D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5"/>
          <p:cNvSpPr/>
          <p:nvPr/>
        </p:nvSpPr>
        <p:spPr>
          <a:xfrm>
            <a:off x="9006840" y="2834640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Методика готова</a:t>
            </a:r>
            <a:endParaRPr lang="en-US" sz="1180" dirty="0"/>
          </a:p>
        </p:txBody>
      </p:sp>
      <p:sp>
        <p:nvSpPr>
          <p:cNvPr id="21" name="Shape 16"/>
          <p:cNvSpPr/>
          <p:nvPr/>
        </p:nvSpPr>
        <p:spPr>
          <a:xfrm>
            <a:off x="987552" y="36758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F0D6"/>
          </a:solidFill>
          <a:ln w="12700">
            <a:solidFill>
              <a:srgbClr val="F0D2A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17"/>
          <p:cNvSpPr/>
          <p:nvPr/>
        </p:nvSpPr>
        <p:spPr>
          <a:xfrm>
            <a:off x="987552" y="37398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682496" y="368503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Baseline-модели и экспериментальный контур</a:t>
            </a:r>
            <a:endParaRPr lang="en-US" sz="1560" dirty="0"/>
          </a:p>
        </p:txBody>
      </p:sp>
      <p:sp>
        <p:nvSpPr>
          <p:cNvPr id="24" name="Text 19"/>
          <p:cNvSpPr/>
          <p:nvPr/>
        </p:nvSpPr>
        <p:spPr>
          <a:xfrm>
            <a:off x="1682496" y="3950208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ARIMAX, GARCH и VARX обоснованы как базовая линия; программная реализация и настройка выполняются.</a:t>
            </a:r>
            <a:endParaRPr lang="en-US" sz="1280" dirty="0"/>
          </a:p>
        </p:txBody>
      </p:sp>
      <p:sp>
        <p:nvSpPr>
          <p:cNvPr id="25" name="Shape 20"/>
          <p:cNvSpPr/>
          <p:nvPr/>
        </p:nvSpPr>
        <p:spPr>
          <a:xfrm>
            <a:off x="8924544" y="3749040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FFF4E2"/>
          </a:solidFill>
          <a:ln w="12700">
            <a:solidFill>
              <a:srgbClr val="F3E0B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1"/>
          <p:cNvSpPr/>
          <p:nvPr/>
        </p:nvSpPr>
        <p:spPr>
          <a:xfrm>
            <a:off x="9006840" y="3794760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C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1180" dirty="0"/>
          </a:p>
        </p:txBody>
      </p:sp>
      <p:sp>
        <p:nvSpPr>
          <p:cNvPr id="27" name="Shape 22"/>
          <p:cNvSpPr/>
          <p:nvPr/>
        </p:nvSpPr>
        <p:spPr>
          <a:xfrm>
            <a:off x="987552" y="46360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CED4"/>
          </a:solidFill>
          <a:ln w="12700">
            <a:solidFill>
              <a:srgbClr val="B5BBC1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3"/>
          <p:cNvSpPr/>
          <p:nvPr/>
        </p:nvSpPr>
        <p:spPr>
          <a:xfrm>
            <a:off x="987552" y="47000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972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1682496" y="464515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Сравнительный эксперимент и выводы</a:t>
            </a:r>
            <a:endParaRPr lang="en-US" sz="1560" dirty="0"/>
          </a:p>
        </p:txBody>
      </p:sp>
      <p:sp>
        <p:nvSpPr>
          <p:cNvPr id="30" name="Text 25"/>
          <p:cNvSpPr/>
          <p:nvPr/>
        </p:nvSpPr>
        <p:spPr>
          <a:xfrm>
            <a:off x="1682496" y="4910328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4 будет посвящена серии экспериментов, абляциям и итоговой интерпретации результатов.</a:t>
            </a:r>
            <a:endParaRPr lang="en-US" sz="1280" dirty="0"/>
          </a:p>
        </p:txBody>
      </p:sp>
      <p:sp>
        <p:nvSpPr>
          <p:cNvPr id="31" name="Shape 26"/>
          <p:cNvSpPr/>
          <p:nvPr/>
        </p:nvSpPr>
        <p:spPr>
          <a:xfrm>
            <a:off x="8924544" y="4709160"/>
            <a:ext cx="2331720" cy="347472"/>
          </a:xfrm>
          <a:prstGeom prst="roundRect">
            <a:avLst>
              <a:gd name="adj" fmla="val 15789"/>
            </a:avLst>
          </a:prstGeom>
          <a:solidFill>
            <a:srgbClr val="E6E8EB"/>
          </a:solidFill>
          <a:ln w="12700">
            <a:solidFill>
              <a:srgbClr val="D2D6D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27"/>
          <p:cNvSpPr/>
          <p:nvPr/>
        </p:nvSpPr>
        <p:spPr>
          <a:xfrm>
            <a:off x="9006840" y="4754880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5963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этап</a:t>
            </a:r>
            <a:endParaRPr lang="en-US" sz="1180" dirty="0"/>
          </a:p>
        </p:txBody>
      </p:sp>
      <p:sp>
        <p:nvSpPr>
          <p:cNvPr id="33" name="Text 28"/>
          <p:cNvSpPr/>
          <p:nvPr/>
        </p:nvSpPr>
        <p:spPr>
          <a:xfrm>
            <a:off x="987552" y="6099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на момент предзащиты: около 70%</a:t>
            </a:r>
            <a:endParaRPr lang="en-US" sz="1420" dirty="0"/>
          </a:p>
        </p:txBody>
      </p:sp>
      <p:sp>
        <p:nvSpPr>
          <p:cNvPr id="34" name="Shape 29"/>
          <p:cNvSpPr/>
          <p:nvPr/>
        </p:nvSpPr>
        <p:spPr>
          <a:xfrm>
            <a:off x="4892040" y="6117336"/>
            <a:ext cx="6062472" cy="182880"/>
          </a:xfrm>
          <a:prstGeom prst="roundRect">
            <a:avLst>
              <a:gd name="adj" fmla="val 25000"/>
            </a:avLst>
          </a:prstGeom>
          <a:solidFill>
            <a:srgbClr val="D9E8F8"/>
          </a:solidFill>
          <a:ln w="12700">
            <a:solidFill>
              <a:srgbClr val="D9E8F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0"/>
          <p:cNvSpPr/>
          <p:nvPr/>
        </p:nvSpPr>
        <p:spPr>
          <a:xfrm>
            <a:off x="4892040" y="6117336"/>
            <a:ext cx="4242816" cy="182880"/>
          </a:xfrm>
          <a:prstGeom prst="roundRect">
            <a:avLst>
              <a:gd name="adj" fmla="val 25000"/>
            </a:avLst>
          </a:prstGeom>
          <a:solidFill>
            <a:srgbClr val="0055BB"/>
          </a:solidFill>
          <a:ln w="12700">
            <a:solidFill>
              <a:srgbClr val="0055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1"/>
          <p:cNvSpPr/>
          <p:nvPr/>
        </p:nvSpPr>
        <p:spPr>
          <a:xfrm>
            <a:off x="987552" y="640080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Завершена теоретико-методическая часть; остается эмпирическое сравнение, глава 4 и финальная редактура.</a:t>
            </a:r>
            <a:endParaRPr lang="en-US" sz="11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7">
            <a:extLst>
              <a:ext uri="{FF2B5EF4-FFF2-40B4-BE49-F238E27FC236}">
                <a16:creationId xmlns:a16="http://schemas.microsoft.com/office/drawing/2014/main" id="{780DFD5A-0D4C-12EC-1D1F-C4C3DD983C58}"/>
              </a:ext>
            </a:extLst>
          </p:cNvPr>
          <p:cNvSpPr/>
          <p:nvPr/>
        </p:nvSpPr>
        <p:spPr>
          <a:xfrm flipV="1">
            <a:off x="4754880" y="2743200"/>
            <a:ext cx="228600" cy="502914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0055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5BB"/>
          </a:solidFill>
          <a:ln w="12700">
            <a:solidFill>
              <a:srgbClr val="0055B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" name="Image 0" descr="/tmp/predzashita_mephi/media/image2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9281160" y="0"/>
            <a:ext cx="2907792" cy="1005840"/>
          </a:xfrm>
          <a:prstGeom prst="rect">
            <a:avLst/>
          </a:prstGeom>
        </p:spPr>
      </p:pic>
      <p:pic>
        <p:nvPicPr>
          <p:cNvPr id="4" name="Image 1" descr="/tmp/predzashita_mephi/media/image1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0" y="1298448"/>
            <a:ext cx="777240" cy="1280160"/>
          </a:xfrm>
          <a:prstGeom prst="rect">
            <a:avLst/>
          </a:prstGeom>
        </p:spPr>
      </p:pic>
      <p:pic>
        <p:nvPicPr>
          <p:cNvPr id="5" name="Image 2" descr="/tmp/predzashita_mephi/media/image1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0" y="6245352"/>
            <a:ext cx="7772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58368" y="20116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Архитектура многоагентной системы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1164031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8" name="Shape 3"/>
          <p:cNvSpPr/>
          <p:nvPr/>
        </p:nvSpPr>
        <p:spPr>
          <a:xfrm>
            <a:off x="2542032" y="2432304"/>
            <a:ext cx="310896" cy="804672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0055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4"/>
          <p:cNvSpPr/>
          <p:nvPr/>
        </p:nvSpPr>
        <p:spPr>
          <a:xfrm flipV="1">
            <a:off x="2542032" y="3227832"/>
            <a:ext cx="283464" cy="484632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0055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5"/>
          <p:cNvSpPr/>
          <p:nvPr/>
        </p:nvSpPr>
        <p:spPr>
          <a:xfrm>
            <a:off x="4754880" y="3246120"/>
            <a:ext cx="256032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0055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6"/>
          <p:cNvSpPr/>
          <p:nvPr/>
        </p:nvSpPr>
        <p:spPr>
          <a:xfrm>
            <a:off x="4754880" y="3246120"/>
            <a:ext cx="256032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0055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7"/>
          <p:cNvSpPr/>
          <p:nvPr/>
        </p:nvSpPr>
        <p:spPr>
          <a:xfrm>
            <a:off x="4754880" y="3246120"/>
            <a:ext cx="256032" cy="429768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0055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8"/>
          <p:cNvSpPr/>
          <p:nvPr/>
        </p:nvSpPr>
        <p:spPr>
          <a:xfrm>
            <a:off x="6153912" y="2340864"/>
            <a:ext cx="0" cy="54864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0055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9"/>
          <p:cNvSpPr/>
          <p:nvPr/>
        </p:nvSpPr>
        <p:spPr>
          <a:xfrm>
            <a:off x="6153912" y="2340864"/>
            <a:ext cx="0" cy="484632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0055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0"/>
          <p:cNvSpPr/>
          <p:nvPr/>
        </p:nvSpPr>
        <p:spPr>
          <a:xfrm>
            <a:off x="6153912" y="2340864"/>
            <a:ext cx="502920" cy="484632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0055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1"/>
          <p:cNvSpPr/>
          <p:nvPr/>
        </p:nvSpPr>
        <p:spPr>
          <a:xfrm>
            <a:off x="7635240" y="2724912"/>
            <a:ext cx="566928" cy="50292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0055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2"/>
          <p:cNvSpPr/>
          <p:nvPr/>
        </p:nvSpPr>
        <p:spPr>
          <a:xfrm>
            <a:off x="7635240" y="3246120"/>
            <a:ext cx="566928" cy="0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0055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3"/>
          <p:cNvSpPr/>
          <p:nvPr/>
        </p:nvSpPr>
        <p:spPr>
          <a:xfrm flipV="1">
            <a:off x="7635240" y="3264409"/>
            <a:ext cx="566928" cy="502919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0055B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5"/>
          <p:cNvSpPr/>
          <p:nvPr/>
        </p:nvSpPr>
        <p:spPr>
          <a:xfrm>
            <a:off x="841248" y="1572768"/>
            <a:ext cx="1719072" cy="384048"/>
          </a:xfrm>
          <a:prstGeom prst="roundRect">
            <a:avLst>
              <a:gd name="adj" fmla="val 19048"/>
            </a:avLst>
          </a:prstGeom>
          <a:solidFill>
            <a:srgbClr val="0055BB"/>
          </a:solidFill>
          <a:ln w="12700">
            <a:solidFill>
              <a:srgbClr val="0055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6"/>
          <p:cNvSpPr/>
          <p:nvPr/>
        </p:nvSpPr>
        <p:spPr>
          <a:xfrm>
            <a:off x="950976" y="161848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 данных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41248" y="2048256"/>
            <a:ext cx="1719072" cy="804672"/>
          </a:xfrm>
          <a:prstGeom prst="roundRect">
            <a:avLst>
              <a:gd name="adj" fmla="val 9091"/>
            </a:avLst>
          </a:prstGeom>
          <a:solidFill>
            <a:srgbClr val="EAF4FF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18"/>
          <p:cNvSpPr/>
          <p:nvPr/>
        </p:nvSpPr>
        <p:spPr>
          <a:xfrm>
            <a:off x="1005840" y="221284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Рыночные данные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Brent/WTI, акции, индексы, объемы</a:t>
            </a:r>
            <a:endParaRPr lang="en-US" sz="1180" dirty="0"/>
          </a:p>
        </p:txBody>
      </p:sp>
      <p:sp>
        <p:nvSpPr>
          <p:cNvPr id="24" name="Shape 19"/>
          <p:cNvSpPr/>
          <p:nvPr/>
        </p:nvSpPr>
        <p:spPr>
          <a:xfrm>
            <a:off x="841248" y="3328416"/>
            <a:ext cx="1719072" cy="804672"/>
          </a:xfrm>
          <a:prstGeom prst="roundRect">
            <a:avLst>
              <a:gd name="adj" fmla="val 9091"/>
            </a:avLst>
          </a:prstGeom>
          <a:solidFill>
            <a:srgbClr val="EAF4FF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0"/>
          <p:cNvSpPr/>
          <p:nvPr/>
        </p:nvSpPr>
        <p:spPr>
          <a:xfrm>
            <a:off x="1005840" y="3493008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Новости и тексты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ленты, пресс-релизы, отраслевые медиа</a:t>
            </a:r>
            <a:endParaRPr lang="en-US" sz="1180" dirty="0"/>
          </a:p>
        </p:txBody>
      </p:sp>
      <p:sp>
        <p:nvSpPr>
          <p:cNvPr id="26" name="Shape 21"/>
          <p:cNvSpPr/>
          <p:nvPr/>
        </p:nvSpPr>
        <p:spPr>
          <a:xfrm>
            <a:off x="2852928" y="1572768"/>
            <a:ext cx="1901952" cy="384048"/>
          </a:xfrm>
          <a:prstGeom prst="roundRect">
            <a:avLst>
              <a:gd name="adj" fmla="val 19048"/>
            </a:avLst>
          </a:prstGeom>
          <a:solidFill>
            <a:srgbClr val="1E7DCF"/>
          </a:solidFill>
          <a:ln w="12700">
            <a:solidFill>
              <a:srgbClr val="1E7DC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2"/>
          <p:cNvSpPr/>
          <p:nvPr/>
        </p:nvSpPr>
        <p:spPr>
          <a:xfrm>
            <a:off x="2962656" y="161848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данных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2852928" y="2505456"/>
            <a:ext cx="1901952" cy="1463040"/>
          </a:xfrm>
          <a:prstGeom prst="roundRect">
            <a:avLst>
              <a:gd name="adj" fmla="val 5000"/>
            </a:avLst>
          </a:prstGeom>
          <a:solidFill>
            <a:srgbClr val="F7FBFF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4"/>
          <p:cNvSpPr/>
          <p:nvPr/>
        </p:nvSpPr>
        <p:spPr>
          <a:xfrm>
            <a:off x="3063240" y="2724912"/>
            <a:ext cx="148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временных меток</a:t>
            </a:r>
            <a:endParaRPr lang="en-US" sz="1220" dirty="0"/>
          </a:p>
          <a:p>
            <a:pPr marL="0" indent="0" algn="ctr">
              <a:buNone/>
            </a:pP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Дедупликация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привязка к эмитенту</a:t>
            </a:r>
            <a:endParaRPr lang="en-US" sz="1220" dirty="0"/>
          </a:p>
        </p:txBody>
      </p:sp>
      <p:sp>
        <p:nvSpPr>
          <p:cNvPr id="30" name="Shape 25"/>
          <p:cNvSpPr/>
          <p:nvPr/>
        </p:nvSpPr>
        <p:spPr>
          <a:xfrm>
            <a:off x="5010912" y="1572768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00BBEE"/>
          </a:solidFill>
          <a:ln w="12700">
            <a:solidFill>
              <a:srgbClr val="00BBE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6"/>
          <p:cNvSpPr/>
          <p:nvPr/>
        </p:nvSpPr>
        <p:spPr>
          <a:xfrm>
            <a:off x="5120640" y="1618488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Оркестратор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5029200" y="1993392"/>
            <a:ext cx="2249424" cy="310896"/>
          </a:xfrm>
          <a:prstGeom prst="roundRect">
            <a:avLst>
              <a:gd name="adj" fmla="val 23529"/>
            </a:avLst>
          </a:prstGeom>
          <a:solidFill>
            <a:srgbClr val="ECFAFF"/>
          </a:solidFill>
          <a:ln w="12700">
            <a:solidFill>
              <a:srgbClr val="B5E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28"/>
          <p:cNvSpPr/>
          <p:nvPr/>
        </p:nvSpPr>
        <p:spPr>
          <a:xfrm>
            <a:off x="5175504" y="2048256"/>
            <a:ext cx="19568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маршрутизация задач • временные окна • память состояния</a:t>
            </a:r>
            <a:endParaRPr lang="en-US" sz="920" dirty="0"/>
          </a:p>
        </p:txBody>
      </p:sp>
      <p:sp>
        <p:nvSpPr>
          <p:cNvPr id="34" name="Shape 29"/>
          <p:cNvSpPr/>
          <p:nvPr/>
        </p:nvSpPr>
        <p:spPr>
          <a:xfrm>
            <a:off x="5010912" y="2395728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5120640" y="2514600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рыночных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5010912" y="3054096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2"/>
          <p:cNvSpPr/>
          <p:nvPr/>
        </p:nvSpPr>
        <p:spPr>
          <a:xfrm>
            <a:off x="5120640" y="3172968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новостей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5010912" y="3712464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34"/>
          <p:cNvSpPr/>
          <p:nvPr/>
        </p:nvSpPr>
        <p:spPr>
          <a:xfrm>
            <a:off x="5120640" y="3831336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LLM-агент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семантики</a:t>
            </a:r>
            <a:endParaRPr lang="en-US" sz="1300" dirty="0"/>
          </a:p>
        </p:txBody>
      </p:sp>
      <p:sp>
        <p:nvSpPr>
          <p:cNvPr id="40" name="Shape 35"/>
          <p:cNvSpPr/>
          <p:nvPr/>
        </p:nvSpPr>
        <p:spPr>
          <a:xfrm>
            <a:off x="8229600" y="1572768"/>
            <a:ext cx="2834640" cy="384048"/>
          </a:xfrm>
          <a:prstGeom prst="roundRect">
            <a:avLst>
              <a:gd name="adj" fmla="val 19048"/>
            </a:avLst>
          </a:prstGeom>
          <a:solidFill>
            <a:srgbClr val="0055BB"/>
          </a:solidFill>
          <a:ln w="12700">
            <a:solidFill>
              <a:srgbClr val="0055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36"/>
          <p:cNvSpPr/>
          <p:nvPr/>
        </p:nvSpPr>
        <p:spPr>
          <a:xfrm>
            <a:off x="8339328" y="1618488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Факторный синтез и решение</a:t>
            </a:r>
            <a:endParaRPr lang="en-US" sz="1250" dirty="0"/>
          </a:p>
        </p:txBody>
      </p:sp>
      <p:sp>
        <p:nvSpPr>
          <p:cNvPr id="42" name="Shape 37"/>
          <p:cNvSpPr/>
          <p:nvPr/>
        </p:nvSpPr>
        <p:spPr>
          <a:xfrm>
            <a:off x="8247888" y="2615184"/>
            <a:ext cx="2816352" cy="1188720"/>
          </a:xfrm>
          <a:prstGeom prst="roundRect">
            <a:avLst>
              <a:gd name="adj" fmla="val 6154"/>
            </a:avLst>
          </a:prstGeom>
          <a:solidFill>
            <a:srgbClr val="F7FBFF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Text 38"/>
          <p:cNvSpPr/>
          <p:nvPr/>
        </p:nvSpPr>
        <p:spPr>
          <a:xfrm>
            <a:off x="8449056" y="2816352"/>
            <a:ext cx="24140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Объединение рыночных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текстовых признаков</a:t>
            </a:r>
            <a:endParaRPr lang="en-US" sz="1300" dirty="0"/>
          </a:p>
          <a:p>
            <a:pPr marL="0" indent="0" algn="ctr">
              <a:buNone/>
            </a:pP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Формирование прогнозного сигнала</a:t>
            </a:r>
            <a:endParaRPr lang="en-US" sz="1300" dirty="0"/>
          </a:p>
        </p:txBody>
      </p:sp>
      <p:sp>
        <p:nvSpPr>
          <p:cNvPr id="44" name="Shape 39"/>
          <p:cNvSpPr/>
          <p:nvPr/>
        </p:nvSpPr>
        <p:spPr>
          <a:xfrm>
            <a:off x="8247888" y="4133088"/>
            <a:ext cx="2816352" cy="841248"/>
          </a:xfrm>
          <a:prstGeom prst="roundRect">
            <a:avLst>
              <a:gd name="adj" fmla="val 8696"/>
            </a:avLst>
          </a:prstGeom>
          <a:solidFill>
            <a:srgbClr val="F8F8F8"/>
          </a:solidFill>
          <a:ln w="12700">
            <a:solidFill>
              <a:srgbClr val="D6D6D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Text 40"/>
          <p:cNvSpPr/>
          <p:nvPr/>
        </p:nvSpPr>
        <p:spPr>
          <a:xfrm>
            <a:off x="8394192" y="4315968"/>
            <a:ext cx="2523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 и риск-контроль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согласованность, confidence, фильтрация шума</a:t>
            </a:r>
            <a:endParaRPr lang="en-US" sz="1150" dirty="0"/>
          </a:p>
        </p:txBody>
      </p:sp>
      <p:sp>
        <p:nvSpPr>
          <p:cNvPr id="46" name="Text 41"/>
          <p:cNvSpPr/>
          <p:nvPr/>
        </p:nvSpPr>
        <p:spPr>
          <a:xfrm>
            <a:off x="896112" y="587044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6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идея: LLM не принимает решение напрямую, а переводит текст в структурированные индикаторы, совместимые со статистическим контуром.</a:t>
            </a:r>
            <a:endParaRPr lang="en-US" sz="11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5BB"/>
          </a:solidFill>
          <a:ln w="12700">
            <a:solidFill>
              <a:srgbClr val="0055B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" name="Image 0" descr="/tmp/predzashita_mephi/media/image2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9281160" y="0"/>
            <a:ext cx="2907792" cy="1005840"/>
          </a:xfrm>
          <a:prstGeom prst="rect">
            <a:avLst/>
          </a:prstGeom>
        </p:spPr>
      </p:pic>
      <p:pic>
        <p:nvPicPr>
          <p:cNvPr id="4" name="Image 1" descr="/tmp/predzashita_mephi/media/image1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0" y="1298448"/>
            <a:ext cx="777240" cy="1280160"/>
          </a:xfrm>
          <a:prstGeom prst="rect">
            <a:avLst/>
          </a:prstGeom>
        </p:spPr>
      </p:pic>
      <p:pic>
        <p:nvPicPr>
          <p:cNvPr id="5" name="Image 2" descr="/tmp/predzashita_mephi/media/image1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0" y="6245352"/>
            <a:ext cx="7772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58368" y="20116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Интеграция LLM в контур анализа новостей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1164031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8" name="Shape 3"/>
          <p:cNvSpPr/>
          <p:nvPr/>
        </p:nvSpPr>
        <p:spPr>
          <a:xfrm>
            <a:off x="841248" y="1572768"/>
            <a:ext cx="3337560" cy="384048"/>
          </a:xfrm>
          <a:prstGeom prst="roundRect">
            <a:avLst>
              <a:gd name="adj" fmla="val 19048"/>
            </a:avLst>
          </a:prstGeom>
          <a:solidFill>
            <a:srgbClr val="0055BB"/>
          </a:solidFill>
          <a:ln w="12700">
            <a:solidFill>
              <a:srgbClr val="0055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4"/>
          <p:cNvSpPr/>
          <p:nvPr/>
        </p:nvSpPr>
        <p:spPr>
          <a:xfrm>
            <a:off x="950976" y="1618488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обработки</a:t>
            </a:r>
            <a:endParaRPr lang="en-US" sz="1250" dirty="0"/>
          </a:p>
        </p:txBody>
      </p:sp>
      <p:sp>
        <p:nvSpPr>
          <p:cNvPr id="10" name="Shape 5"/>
          <p:cNvSpPr/>
          <p:nvPr/>
        </p:nvSpPr>
        <p:spPr>
          <a:xfrm>
            <a:off x="896112" y="1993392"/>
            <a:ext cx="3218688" cy="658368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6"/>
          <p:cNvSpPr/>
          <p:nvPr/>
        </p:nvSpPr>
        <p:spPr>
          <a:xfrm>
            <a:off x="1060704" y="2148840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Сырой текст новости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2505456" y="2651760"/>
            <a:ext cx="0" cy="201168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0055BB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8"/>
          <p:cNvSpPr/>
          <p:nvPr/>
        </p:nvSpPr>
        <p:spPr>
          <a:xfrm>
            <a:off x="896112" y="2862072"/>
            <a:ext cx="3218688" cy="658368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9"/>
          <p:cNvSpPr/>
          <p:nvPr/>
        </p:nvSpPr>
        <p:spPr>
          <a:xfrm>
            <a:off x="1060704" y="3017520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Очистка, дедупликация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привязка ко времени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2505456" y="3520440"/>
            <a:ext cx="0" cy="201168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0055BB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1"/>
          <p:cNvSpPr/>
          <p:nvPr/>
        </p:nvSpPr>
        <p:spPr>
          <a:xfrm>
            <a:off x="896112" y="3730752"/>
            <a:ext cx="3218688" cy="658368"/>
          </a:xfrm>
          <a:prstGeom prst="roundRect">
            <a:avLst>
              <a:gd name="adj" fmla="val 11111"/>
            </a:avLst>
          </a:prstGeom>
          <a:solidFill>
            <a:srgbClr val="F0F8FF"/>
          </a:solidFill>
          <a:ln w="12700">
            <a:solidFill>
              <a:srgbClr val="A9D8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2"/>
          <p:cNvSpPr/>
          <p:nvPr/>
        </p:nvSpPr>
        <p:spPr>
          <a:xfrm>
            <a:off x="1060704" y="3886200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LLM-извлечение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структуры события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2505456" y="4389120"/>
            <a:ext cx="0" cy="201168"/>
          </a:xfrm>
          <a:prstGeom prst="line">
            <a:avLst/>
          </a:prstGeom>
          <a:solidFill>
            <a:srgbClr val="FFFFFF">
              <a:alpha val="0"/>
            </a:srgbClr>
          </a:solidFill>
          <a:ln w="20320">
            <a:solidFill>
              <a:srgbClr val="0055BB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4"/>
          <p:cNvSpPr/>
          <p:nvPr/>
        </p:nvSpPr>
        <p:spPr>
          <a:xfrm>
            <a:off x="896112" y="4599432"/>
            <a:ext cx="3218688" cy="658368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5"/>
          <p:cNvSpPr/>
          <p:nvPr/>
        </p:nvSpPr>
        <p:spPr>
          <a:xfrm>
            <a:off x="1060704" y="4754880"/>
            <a:ext cx="2889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Агрегация факторов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модели прогноза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645152" y="1572768"/>
            <a:ext cx="6537960" cy="4498848"/>
          </a:xfrm>
          <a:prstGeom prst="roundRect">
            <a:avLst>
              <a:gd name="adj" fmla="val 1626"/>
            </a:avLst>
          </a:prstGeom>
          <a:solidFill>
            <a:srgbClr val="FCFCFC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17"/>
          <p:cNvSpPr/>
          <p:nvPr/>
        </p:nvSpPr>
        <p:spPr>
          <a:xfrm>
            <a:off x="4882896" y="1810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Структурированный объект события</a:t>
            </a:r>
            <a:endParaRPr lang="en-US" sz="1420" dirty="0"/>
          </a:p>
        </p:txBody>
      </p:sp>
      <p:sp>
        <p:nvSpPr>
          <p:cNvPr id="23" name="Shape 18"/>
          <p:cNvSpPr/>
          <p:nvPr/>
        </p:nvSpPr>
        <p:spPr>
          <a:xfrm>
            <a:off x="4901184" y="2212848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AF4FF"/>
          </a:solidFill>
          <a:ln w="10160">
            <a:solidFill>
              <a:srgbClr val="D6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19"/>
          <p:cNvSpPr/>
          <p:nvPr/>
        </p:nvSpPr>
        <p:spPr>
          <a:xfrm>
            <a:off x="4992624" y="230428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issuer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781544" y="2212848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AF4FF"/>
          </a:solidFill>
          <a:ln w="10160">
            <a:solidFill>
              <a:srgbClr val="D6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1"/>
          <p:cNvSpPr/>
          <p:nvPr/>
        </p:nvSpPr>
        <p:spPr>
          <a:xfrm>
            <a:off x="7872984" y="230428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event_type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901184" y="27889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3F7FB"/>
          </a:solidFill>
          <a:ln w="10160">
            <a:solidFill>
              <a:srgbClr val="D6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3"/>
          <p:cNvSpPr/>
          <p:nvPr/>
        </p:nvSpPr>
        <p:spPr>
          <a:xfrm>
            <a:off x="4992624" y="288036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781544" y="27889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3F7FB"/>
          </a:solidFill>
          <a:ln w="10160">
            <a:solidFill>
              <a:srgbClr val="D6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5"/>
          <p:cNvSpPr/>
          <p:nvPr/>
        </p:nvSpPr>
        <p:spPr>
          <a:xfrm>
            <a:off x="7872984" y="2880360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intensity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4901184" y="3364992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AF4FF"/>
          </a:solidFill>
          <a:ln w="10160">
            <a:solidFill>
              <a:srgbClr val="D6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27"/>
          <p:cNvSpPr/>
          <p:nvPr/>
        </p:nvSpPr>
        <p:spPr>
          <a:xfrm>
            <a:off x="4992624" y="345643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7781544" y="3364992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EAF4FF"/>
          </a:solidFill>
          <a:ln w="10160">
            <a:solidFill>
              <a:srgbClr val="D6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29"/>
          <p:cNvSpPr/>
          <p:nvPr/>
        </p:nvSpPr>
        <p:spPr>
          <a:xfrm>
            <a:off x="7872984" y="3456432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horizon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4901184" y="3941064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3F7FB"/>
          </a:solidFill>
          <a:ln w="10160">
            <a:solidFill>
              <a:srgbClr val="D6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1"/>
          <p:cNvSpPr/>
          <p:nvPr/>
        </p:nvSpPr>
        <p:spPr>
          <a:xfrm>
            <a:off x="4992624" y="403250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source_quality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7781544" y="3941064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F3F7FB"/>
          </a:solidFill>
          <a:ln w="10160">
            <a:solidFill>
              <a:srgbClr val="D6E3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3"/>
          <p:cNvSpPr/>
          <p:nvPr/>
        </p:nvSpPr>
        <p:spPr>
          <a:xfrm>
            <a:off x="7872984" y="4032504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02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4882896" y="4645152"/>
            <a:ext cx="5989320" cy="0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5"/>
          <p:cNvSpPr/>
          <p:nvPr/>
        </p:nvSpPr>
        <p:spPr>
          <a:xfrm>
            <a:off x="4882896" y="479145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агрегированных индексов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4882896" y="5074920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S(a,t) = Σ qᵢmᵢsᵢe^{-λΔtᵢ}     •     I(a,t) = Σ qᵢmᵢe^{-λΔtᵢ}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Тематические и лаговые индексы строятся по той же схеме и подаются в модель прогноза.</a:t>
            </a:r>
            <a:endParaRPr lang="en-US" sz="1230" dirty="0"/>
          </a:p>
        </p:txBody>
      </p:sp>
      <p:sp>
        <p:nvSpPr>
          <p:cNvPr id="42" name="Text 37"/>
          <p:cNvSpPr/>
          <p:nvPr/>
        </p:nvSpPr>
        <p:spPr>
          <a:xfrm>
            <a:off x="896112" y="6144768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используется как семантический трансформатор: текст преобразуется в интерпретируемые признаки, которые можно агрегировать, проверять и сравнивать со статистическими baseline-подходами.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5BB"/>
          </a:solidFill>
          <a:ln w="12700">
            <a:solidFill>
              <a:srgbClr val="0055B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" name="Image 0" descr="/tmp/predzashita_mephi/media/image2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9281160" y="0"/>
            <a:ext cx="2907792" cy="1005840"/>
          </a:xfrm>
          <a:prstGeom prst="rect">
            <a:avLst/>
          </a:prstGeom>
        </p:spPr>
      </p:pic>
      <p:pic>
        <p:nvPicPr>
          <p:cNvPr id="4" name="Image 1" descr="/tmp/predzashita_mephi/media/image1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0" y="1298448"/>
            <a:ext cx="777240" cy="1280160"/>
          </a:xfrm>
          <a:prstGeom prst="rect">
            <a:avLst/>
          </a:prstGeom>
        </p:spPr>
      </p:pic>
      <p:pic>
        <p:nvPicPr>
          <p:cNvPr id="5" name="Image 2" descr="/tmp/predzashita_mephi/media/image1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0" y="6245352"/>
            <a:ext cx="7772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58368" y="20116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Как оценивается вклад новостных характеристик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1164031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8" name="Shape 3"/>
          <p:cNvSpPr/>
          <p:nvPr/>
        </p:nvSpPr>
        <p:spPr>
          <a:xfrm>
            <a:off x="868680" y="182880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BFDFF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4"/>
          <p:cNvSpPr/>
          <p:nvPr/>
        </p:nvSpPr>
        <p:spPr>
          <a:xfrm>
            <a:off x="978408" y="1975104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Тональность</a:t>
            </a:r>
            <a:endParaRPr lang="en-US" sz="1380" dirty="0"/>
          </a:p>
        </p:txBody>
      </p:sp>
      <p:sp>
        <p:nvSpPr>
          <p:cNvPr id="10" name="Text 5"/>
          <p:cNvSpPr/>
          <p:nvPr/>
        </p:nvSpPr>
        <p:spPr>
          <a:xfrm>
            <a:off x="978408" y="2414016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воздействия</a:t>
            </a:r>
            <a:endParaRPr lang="en-US" sz="1160" dirty="0"/>
          </a:p>
        </p:txBody>
      </p:sp>
      <p:sp>
        <p:nvSpPr>
          <p:cNvPr id="11" name="Shape 6"/>
          <p:cNvSpPr/>
          <p:nvPr/>
        </p:nvSpPr>
        <p:spPr>
          <a:xfrm>
            <a:off x="3090672" y="182880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7FAFD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7"/>
          <p:cNvSpPr/>
          <p:nvPr/>
        </p:nvSpPr>
        <p:spPr>
          <a:xfrm>
            <a:off x="3200400" y="1975104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Интенсивность</a:t>
            </a:r>
            <a:endParaRPr lang="en-US" sz="1380" dirty="0"/>
          </a:p>
        </p:txBody>
      </p:sp>
      <p:sp>
        <p:nvSpPr>
          <p:cNvPr id="13" name="Text 8"/>
          <p:cNvSpPr/>
          <p:nvPr/>
        </p:nvSpPr>
        <p:spPr>
          <a:xfrm>
            <a:off x="3200400" y="2414016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плотность и повторяемость сигнала</a:t>
            </a:r>
            <a:endParaRPr lang="en-US" sz="1160" dirty="0"/>
          </a:p>
        </p:txBody>
      </p:sp>
      <p:sp>
        <p:nvSpPr>
          <p:cNvPr id="14" name="Shape 9"/>
          <p:cNvSpPr/>
          <p:nvPr/>
        </p:nvSpPr>
        <p:spPr>
          <a:xfrm>
            <a:off x="5312664" y="182880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BFDFF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0"/>
          <p:cNvSpPr/>
          <p:nvPr/>
        </p:nvSpPr>
        <p:spPr>
          <a:xfrm>
            <a:off x="5422392" y="1975104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Тематика</a:t>
            </a:r>
            <a:endParaRPr lang="en-US" sz="1380" dirty="0"/>
          </a:p>
        </p:txBody>
      </p:sp>
      <p:sp>
        <p:nvSpPr>
          <p:cNvPr id="16" name="Text 11"/>
          <p:cNvSpPr/>
          <p:nvPr/>
        </p:nvSpPr>
        <p:spPr>
          <a:xfrm>
            <a:off x="5422392" y="2414016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описываемого события</a:t>
            </a:r>
            <a:endParaRPr lang="en-US" sz="1160" dirty="0"/>
          </a:p>
        </p:txBody>
      </p:sp>
      <p:sp>
        <p:nvSpPr>
          <p:cNvPr id="17" name="Shape 12"/>
          <p:cNvSpPr/>
          <p:nvPr/>
        </p:nvSpPr>
        <p:spPr>
          <a:xfrm>
            <a:off x="7534656" y="182880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7FAFD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3"/>
          <p:cNvSpPr/>
          <p:nvPr/>
        </p:nvSpPr>
        <p:spPr>
          <a:xfrm>
            <a:off x="7644384" y="1975104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Временной лаг</a:t>
            </a:r>
            <a:endParaRPr lang="en-US" sz="1380" dirty="0"/>
          </a:p>
        </p:txBody>
      </p:sp>
      <p:sp>
        <p:nvSpPr>
          <p:cNvPr id="19" name="Text 14"/>
          <p:cNvSpPr/>
          <p:nvPr/>
        </p:nvSpPr>
        <p:spPr>
          <a:xfrm>
            <a:off x="7644384" y="2414016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отражения в ценах</a:t>
            </a:r>
            <a:endParaRPr lang="en-US" sz="1160" dirty="0"/>
          </a:p>
        </p:txBody>
      </p:sp>
      <p:sp>
        <p:nvSpPr>
          <p:cNvPr id="20" name="Shape 15"/>
          <p:cNvSpPr/>
          <p:nvPr/>
        </p:nvSpPr>
        <p:spPr>
          <a:xfrm>
            <a:off x="9756648" y="182880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BFDFF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6"/>
          <p:cNvSpPr/>
          <p:nvPr/>
        </p:nvSpPr>
        <p:spPr>
          <a:xfrm>
            <a:off x="9866376" y="1975104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источника</a:t>
            </a:r>
            <a:endParaRPr lang="en-US" sz="1380" dirty="0"/>
          </a:p>
        </p:txBody>
      </p:sp>
      <p:sp>
        <p:nvSpPr>
          <p:cNvPr id="22" name="Text 17"/>
          <p:cNvSpPr/>
          <p:nvPr/>
        </p:nvSpPr>
        <p:spPr>
          <a:xfrm>
            <a:off x="9866376" y="2414016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надежность и статус поставщика</a:t>
            </a:r>
            <a:endParaRPr lang="en-US" sz="1160" dirty="0"/>
          </a:p>
        </p:txBody>
      </p:sp>
      <p:sp>
        <p:nvSpPr>
          <p:cNvPr id="23" name="Shape 18"/>
          <p:cNvSpPr/>
          <p:nvPr/>
        </p:nvSpPr>
        <p:spPr>
          <a:xfrm>
            <a:off x="914400" y="3822192"/>
            <a:ext cx="10332720" cy="1499616"/>
          </a:xfrm>
          <a:prstGeom prst="roundRect">
            <a:avLst>
              <a:gd name="adj" fmla="val 4878"/>
            </a:avLst>
          </a:prstGeom>
          <a:solidFill>
            <a:srgbClr val="FAFAFA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Shape 19"/>
          <p:cNvSpPr/>
          <p:nvPr/>
        </p:nvSpPr>
        <p:spPr>
          <a:xfrm>
            <a:off x="4352544" y="3913632"/>
            <a:ext cx="0" cy="1298448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0"/>
          <p:cNvSpPr/>
          <p:nvPr/>
        </p:nvSpPr>
        <p:spPr>
          <a:xfrm>
            <a:off x="7534656" y="3913632"/>
            <a:ext cx="0" cy="1298448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1"/>
          <p:cNvSpPr/>
          <p:nvPr/>
        </p:nvSpPr>
        <p:spPr>
          <a:xfrm>
            <a:off x="1188720" y="41148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Абляционные эксперименты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1170432" y="44622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полной модели с вариантами без отдельных блоков признаков.</a:t>
            </a:r>
            <a:endParaRPr lang="en-US" sz="1240" dirty="0"/>
          </a:p>
        </p:txBody>
      </p:sp>
      <p:sp>
        <p:nvSpPr>
          <p:cNvPr id="28" name="Text 23"/>
          <p:cNvSpPr/>
          <p:nvPr/>
        </p:nvSpPr>
        <p:spPr>
          <a:xfrm>
            <a:off x="4645152" y="41148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Хронологическая валидация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4526280" y="4462272"/>
            <a:ext cx="2852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/ rolling window без утечки будущих наблюдений.</a:t>
            </a:r>
            <a:endParaRPr lang="en-US" sz="1240" dirty="0"/>
          </a:p>
        </p:txBody>
      </p:sp>
      <p:sp>
        <p:nvSpPr>
          <p:cNvPr id="30" name="Text 25"/>
          <p:cNvSpPr/>
          <p:nvPr/>
        </p:nvSpPr>
        <p:spPr>
          <a:xfrm>
            <a:off x="7882128" y="4114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качества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7790688" y="444398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ROC-AUC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/ RMSE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QLIKE и показатели стратегии</a:t>
            </a:r>
            <a:endParaRPr lang="en-US" sz="1220" dirty="0"/>
          </a:p>
        </p:txBody>
      </p:sp>
      <p:sp>
        <p:nvSpPr>
          <p:cNvPr id="32" name="Text 27"/>
          <p:cNvSpPr/>
          <p:nvPr/>
        </p:nvSpPr>
        <p:spPr>
          <a:xfrm>
            <a:off x="932688" y="589788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этапа — не просто подтвердить полезность новостей, а ранжировать свойства потока по их самостоятельному вкладу в качество прогноза.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5BB"/>
          </a:solidFill>
          <a:ln w="12700">
            <a:solidFill>
              <a:srgbClr val="0055B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" name="Image 0" descr="/tmp/predzashita_mephi/media/image2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9281160" y="0"/>
            <a:ext cx="2907792" cy="1005840"/>
          </a:xfrm>
          <a:prstGeom prst="rect">
            <a:avLst/>
          </a:prstGeom>
        </p:spPr>
      </p:pic>
      <p:pic>
        <p:nvPicPr>
          <p:cNvPr id="4" name="Image 1" descr="/tmp/predzashita_mephi/media/image1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0" y="1298448"/>
            <a:ext cx="777240" cy="1280160"/>
          </a:xfrm>
          <a:prstGeom prst="rect">
            <a:avLst/>
          </a:prstGeom>
        </p:spPr>
      </p:pic>
      <p:pic>
        <p:nvPicPr>
          <p:cNvPr id="5" name="Image 2" descr="/tmp/predzashita_mephi/media/image1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0" y="6245352"/>
            <a:ext cx="7772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58368" y="20116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Базовая линия и единый экспериментальный контур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1164031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8" name="Shape 3"/>
          <p:cNvSpPr/>
          <p:nvPr/>
        </p:nvSpPr>
        <p:spPr>
          <a:xfrm>
            <a:off x="822960" y="1572768"/>
            <a:ext cx="5074920" cy="4553712"/>
          </a:xfrm>
          <a:prstGeom prst="roundRect">
            <a:avLst>
              <a:gd name="adj" fmla="val 1606"/>
            </a:avLst>
          </a:prstGeom>
          <a:solidFill>
            <a:srgbClr val="FAFAFA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4"/>
          <p:cNvSpPr/>
          <p:nvPr/>
        </p:nvSpPr>
        <p:spPr>
          <a:xfrm>
            <a:off x="1042416" y="17922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Статистические baseline-модели</a:t>
            </a:r>
            <a:endParaRPr lang="en-US" sz="1420" dirty="0"/>
          </a:p>
        </p:txBody>
      </p:sp>
      <p:sp>
        <p:nvSpPr>
          <p:cNvPr id="10" name="Shape 5"/>
          <p:cNvSpPr/>
          <p:nvPr/>
        </p:nvSpPr>
        <p:spPr>
          <a:xfrm>
            <a:off x="1024128" y="2157984"/>
            <a:ext cx="4553712" cy="676656"/>
          </a:xfrm>
          <a:prstGeom prst="roundRect">
            <a:avLst>
              <a:gd name="adj" fmla="val 6757"/>
            </a:avLst>
          </a:prstGeom>
          <a:solidFill>
            <a:srgbClr val="FAFCFE"/>
          </a:solidFill>
          <a:ln w="1016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6"/>
          <p:cNvSpPr/>
          <p:nvPr/>
        </p:nvSpPr>
        <p:spPr>
          <a:xfrm>
            <a:off x="1170432" y="226771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Наивная модель</a:t>
            </a:r>
            <a:endParaRPr lang="en-US" sz="1360" dirty="0"/>
          </a:p>
        </p:txBody>
      </p:sp>
      <p:sp>
        <p:nvSpPr>
          <p:cNvPr id="12" name="Text 7"/>
          <p:cNvSpPr/>
          <p:nvPr/>
        </p:nvSpPr>
        <p:spPr>
          <a:xfrm>
            <a:off x="2121408" y="2267712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Минимальный эталон для проверки факта реального выигрыша от усложнения системы.</a:t>
            </a:r>
            <a:endParaRPr lang="en-US" sz="1220" dirty="0"/>
          </a:p>
        </p:txBody>
      </p:sp>
      <p:sp>
        <p:nvSpPr>
          <p:cNvPr id="13" name="Shape 8"/>
          <p:cNvSpPr/>
          <p:nvPr/>
        </p:nvSpPr>
        <p:spPr>
          <a:xfrm>
            <a:off x="1024128" y="3072384"/>
            <a:ext cx="4553712" cy="676656"/>
          </a:xfrm>
          <a:prstGeom prst="roundRect">
            <a:avLst>
              <a:gd name="adj" fmla="val 6757"/>
            </a:avLst>
          </a:prstGeom>
          <a:solidFill>
            <a:srgbClr val="F4F8FC"/>
          </a:solidFill>
          <a:ln w="1016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9"/>
          <p:cNvSpPr/>
          <p:nvPr/>
        </p:nvSpPr>
        <p:spPr>
          <a:xfrm>
            <a:off x="1170432" y="318211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ARIMAX</a:t>
            </a:r>
            <a:endParaRPr lang="en-US" sz="1360" dirty="0"/>
          </a:p>
        </p:txBody>
      </p:sp>
      <p:sp>
        <p:nvSpPr>
          <p:cNvPr id="15" name="Text 10"/>
          <p:cNvSpPr/>
          <p:nvPr/>
        </p:nvSpPr>
        <p:spPr>
          <a:xfrm>
            <a:off x="2121408" y="3182112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условного среднего ряда с учетом структурированных экзогенных факторов.</a:t>
            </a:r>
            <a:endParaRPr lang="en-US" sz="1220" dirty="0"/>
          </a:p>
        </p:txBody>
      </p:sp>
      <p:sp>
        <p:nvSpPr>
          <p:cNvPr id="16" name="Shape 11"/>
          <p:cNvSpPr/>
          <p:nvPr/>
        </p:nvSpPr>
        <p:spPr>
          <a:xfrm>
            <a:off x="1024128" y="3986784"/>
            <a:ext cx="4553712" cy="676656"/>
          </a:xfrm>
          <a:prstGeom prst="roundRect">
            <a:avLst>
              <a:gd name="adj" fmla="val 6757"/>
            </a:avLst>
          </a:prstGeom>
          <a:solidFill>
            <a:srgbClr val="FAFCFE"/>
          </a:solidFill>
          <a:ln w="1016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2"/>
          <p:cNvSpPr/>
          <p:nvPr/>
        </p:nvSpPr>
        <p:spPr>
          <a:xfrm>
            <a:off x="1170432" y="409651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GARCH</a:t>
            </a:r>
            <a:endParaRPr lang="en-US" sz="1360" dirty="0"/>
          </a:p>
        </p:txBody>
      </p:sp>
      <p:sp>
        <p:nvSpPr>
          <p:cNvPr id="18" name="Text 13"/>
          <p:cNvSpPr/>
          <p:nvPr/>
        </p:nvSpPr>
        <p:spPr>
          <a:xfrm>
            <a:off x="2121408" y="4096512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условной волатильности и режима риска на финансовых временных рядах.</a:t>
            </a:r>
            <a:endParaRPr lang="en-US" sz="1220" dirty="0"/>
          </a:p>
        </p:txBody>
      </p:sp>
      <p:sp>
        <p:nvSpPr>
          <p:cNvPr id="19" name="Shape 14"/>
          <p:cNvSpPr/>
          <p:nvPr/>
        </p:nvSpPr>
        <p:spPr>
          <a:xfrm>
            <a:off x="1024128" y="4901184"/>
            <a:ext cx="4553712" cy="676656"/>
          </a:xfrm>
          <a:prstGeom prst="roundRect">
            <a:avLst>
              <a:gd name="adj" fmla="val 6757"/>
            </a:avLst>
          </a:prstGeom>
          <a:solidFill>
            <a:srgbClr val="F4F8FC"/>
          </a:solidFill>
          <a:ln w="10160">
            <a:solidFill>
              <a:srgbClr val="D7E3E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5"/>
          <p:cNvSpPr/>
          <p:nvPr/>
        </p:nvSpPr>
        <p:spPr>
          <a:xfrm>
            <a:off x="1170432" y="501091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VARX</a:t>
            </a:r>
            <a:endParaRPr lang="en-US" sz="1360" dirty="0"/>
          </a:p>
        </p:txBody>
      </p:sp>
      <p:sp>
        <p:nvSpPr>
          <p:cNvPr id="21" name="Text 16"/>
          <p:cNvSpPr/>
          <p:nvPr/>
        </p:nvSpPr>
        <p:spPr>
          <a:xfrm>
            <a:off x="2121408" y="5010912"/>
            <a:ext cx="3273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Совместная динамика взаимосвязанных рядов и лаговых зависимостей между ними.</a:t>
            </a:r>
            <a:endParaRPr lang="en-US" sz="1220" dirty="0"/>
          </a:p>
        </p:txBody>
      </p:sp>
      <p:sp>
        <p:nvSpPr>
          <p:cNvPr id="22" name="Shape 17"/>
          <p:cNvSpPr/>
          <p:nvPr/>
        </p:nvSpPr>
        <p:spPr>
          <a:xfrm>
            <a:off x="6199632" y="1572768"/>
            <a:ext cx="5074920" cy="4553712"/>
          </a:xfrm>
          <a:prstGeom prst="roundRect">
            <a:avLst>
              <a:gd name="adj" fmla="val 1606"/>
            </a:avLst>
          </a:prstGeom>
          <a:solidFill>
            <a:srgbClr val="FCFCFC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18"/>
          <p:cNvSpPr/>
          <p:nvPr/>
        </p:nvSpPr>
        <p:spPr>
          <a:xfrm>
            <a:off x="6437376" y="17922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экспериментальный контур</a:t>
            </a:r>
            <a:endParaRPr lang="en-US" sz="1420" dirty="0"/>
          </a:p>
        </p:txBody>
      </p:sp>
      <p:sp>
        <p:nvSpPr>
          <p:cNvPr id="24" name="Shape 19"/>
          <p:cNvSpPr/>
          <p:nvPr/>
        </p:nvSpPr>
        <p:spPr>
          <a:xfrm>
            <a:off x="6565392" y="2139696"/>
            <a:ext cx="4315968" cy="658368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0"/>
          <p:cNvSpPr/>
          <p:nvPr/>
        </p:nvSpPr>
        <p:spPr>
          <a:xfrm>
            <a:off x="6693408" y="228600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1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календарь и подготовка данных</a:t>
            </a:r>
            <a:endParaRPr lang="en-US" sz="1310" dirty="0"/>
          </a:p>
        </p:txBody>
      </p:sp>
      <p:sp>
        <p:nvSpPr>
          <p:cNvPr id="26" name="Shape 21"/>
          <p:cNvSpPr/>
          <p:nvPr/>
        </p:nvSpPr>
        <p:spPr>
          <a:xfrm>
            <a:off x="8723376" y="2798064"/>
            <a:ext cx="0" cy="201168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0055BB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27" name="Shape 22"/>
          <p:cNvSpPr/>
          <p:nvPr/>
        </p:nvSpPr>
        <p:spPr>
          <a:xfrm>
            <a:off x="6565392" y="3017520"/>
            <a:ext cx="4315968" cy="658368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3"/>
          <p:cNvSpPr/>
          <p:nvPr/>
        </p:nvSpPr>
        <p:spPr>
          <a:xfrm>
            <a:off x="6693408" y="3163824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1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Общие горизонты прогноза и признаки</a:t>
            </a:r>
            <a:endParaRPr lang="en-US" sz="1310" dirty="0"/>
          </a:p>
        </p:txBody>
      </p:sp>
      <p:sp>
        <p:nvSpPr>
          <p:cNvPr id="29" name="Shape 24"/>
          <p:cNvSpPr/>
          <p:nvPr/>
        </p:nvSpPr>
        <p:spPr>
          <a:xfrm>
            <a:off x="8723376" y="3675888"/>
            <a:ext cx="0" cy="201168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0055BB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5"/>
          <p:cNvSpPr/>
          <p:nvPr/>
        </p:nvSpPr>
        <p:spPr>
          <a:xfrm>
            <a:off x="6565392" y="3895344"/>
            <a:ext cx="4315968" cy="658368"/>
          </a:xfrm>
          <a:prstGeom prst="roundRect">
            <a:avLst>
              <a:gd name="adj" fmla="val 11111"/>
            </a:avLst>
          </a:prstGeom>
          <a:solidFill>
            <a:srgbClr val="F0F8FF"/>
          </a:solidFill>
          <a:ln w="12700">
            <a:solidFill>
              <a:srgbClr val="A9D8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6"/>
          <p:cNvSpPr/>
          <p:nvPr/>
        </p:nvSpPr>
        <p:spPr>
          <a:xfrm>
            <a:off x="6693408" y="4041648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1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LLM-MAS и baseline-модели на одном контуре</a:t>
            </a:r>
            <a:endParaRPr lang="en-US" sz="1310" dirty="0"/>
          </a:p>
        </p:txBody>
      </p:sp>
      <p:sp>
        <p:nvSpPr>
          <p:cNvPr id="32" name="Shape 27"/>
          <p:cNvSpPr/>
          <p:nvPr/>
        </p:nvSpPr>
        <p:spPr>
          <a:xfrm>
            <a:off x="8723376" y="4553712"/>
            <a:ext cx="0" cy="201168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0055BB"/>
            </a:solidFill>
            <a:prstDash val="solid"/>
            <a:tailEnd type="triangle"/>
          </a:ln>
        </p:spPr>
        <p:txBody>
          <a:bodyPr/>
          <a:lstStyle/>
          <a:p>
            <a:endParaRPr lang="ru-RU"/>
          </a:p>
        </p:txBody>
      </p:sp>
      <p:sp>
        <p:nvSpPr>
          <p:cNvPr id="33" name="Shape 28"/>
          <p:cNvSpPr/>
          <p:nvPr/>
        </p:nvSpPr>
        <p:spPr>
          <a:xfrm>
            <a:off x="6565392" y="4773168"/>
            <a:ext cx="4315968" cy="658368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29"/>
          <p:cNvSpPr/>
          <p:nvPr/>
        </p:nvSpPr>
        <p:spPr>
          <a:xfrm>
            <a:off x="6693408" y="491947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1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Общие метрики: Accuracy/F1, MAE/RMSE, QLIKE, Sharpe</a:t>
            </a:r>
            <a:endParaRPr lang="en-US" sz="1310" dirty="0"/>
          </a:p>
        </p:txBody>
      </p:sp>
      <p:sp>
        <p:nvSpPr>
          <p:cNvPr id="35" name="Text 30"/>
          <p:cNvSpPr/>
          <p:nvPr/>
        </p:nvSpPr>
        <p:spPr>
          <a:xfrm>
            <a:off x="932688" y="6272784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Корректность сравнения обеспечивается одинаковыми окнами обучения, едиными правилами агрегации новостей и запретом на использование будущей информации.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5BB"/>
          </a:solidFill>
          <a:ln w="12700">
            <a:solidFill>
              <a:srgbClr val="0055B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" name="Image 0" descr="/tmp/predzashita_mephi/media/image2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9281160" y="0"/>
            <a:ext cx="2907792" cy="1005840"/>
          </a:xfrm>
          <a:prstGeom prst="rect">
            <a:avLst/>
          </a:prstGeom>
        </p:spPr>
      </p:pic>
      <p:pic>
        <p:nvPicPr>
          <p:cNvPr id="4" name="Image 1" descr="/tmp/predzashita_mephi/media/image1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0" y="1298448"/>
            <a:ext cx="777240" cy="1280160"/>
          </a:xfrm>
          <a:prstGeom prst="rect">
            <a:avLst/>
          </a:prstGeom>
        </p:spPr>
      </p:pic>
      <p:pic>
        <p:nvPicPr>
          <p:cNvPr id="5" name="Image 2" descr="/tmp/predzashita_mephi/media/image1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0" y="6245352"/>
            <a:ext cx="7772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58368" y="20116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Что уже выполнено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1164031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8" name="Shape 3"/>
          <p:cNvSpPr/>
          <p:nvPr/>
        </p:nvSpPr>
        <p:spPr>
          <a:xfrm>
            <a:off x="841248" y="1572768"/>
            <a:ext cx="10972800" cy="4480560"/>
          </a:xfrm>
          <a:prstGeom prst="roundRect">
            <a:avLst>
              <a:gd name="adj" fmla="val 1633"/>
            </a:avLst>
          </a:prstGeom>
          <a:solidFill>
            <a:srgbClr val="FAFAFA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4"/>
          <p:cNvSpPr/>
          <p:nvPr/>
        </p:nvSpPr>
        <p:spPr>
          <a:xfrm>
            <a:off x="4535424" y="1810512"/>
            <a:ext cx="0" cy="3986784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5"/>
          <p:cNvSpPr/>
          <p:nvPr/>
        </p:nvSpPr>
        <p:spPr>
          <a:xfrm>
            <a:off x="8193024" y="1810512"/>
            <a:ext cx="0" cy="3986784"/>
          </a:xfrm>
          <a:prstGeom prst="line">
            <a:avLst/>
          </a:prstGeom>
          <a:solidFill>
            <a:srgbClr val="FFFFFF">
              <a:alpha val="0"/>
            </a:srgbClr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6"/>
          <p:cNvSpPr/>
          <p:nvPr/>
        </p:nvSpPr>
        <p:spPr>
          <a:xfrm>
            <a:off x="1078992" y="1847088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1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системы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133856" y="2542032"/>
            <a:ext cx="29535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обоснован переход к многоагентному подходу;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выделены агенты рыночных данных, новостей, LLM-семантики, синтеза и верификации;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описаны протоколы обмена и роль оркестратора.</a:t>
            </a:r>
            <a:endParaRPr lang="en-US" sz="1320" dirty="0"/>
          </a:p>
        </p:txBody>
      </p:sp>
      <p:sp>
        <p:nvSpPr>
          <p:cNvPr id="13" name="Text 8"/>
          <p:cNvSpPr/>
          <p:nvPr/>
        </p:nvSpPr>
        <p:spPr>
          <a:xfrm>
            <a:off x="4754880" y="1847088"/>
            <a:ext cx="3063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2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Новостные факторы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4809744" y="2542032"/>
            <a:ext cx="29535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формализованы тональность, интенсивность, тематика, лаг и тип источника;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задана схема сопоставления новостей с динамикой рынка;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описаны абляции и panel / walk-forward validation.</a:t>
            </a:r>
            <a:endParaRPr lang="en-US" sz="1320" dirty="0"/>
          </a:p>
        </p:txBody>
      </p:sp>
      <p:sp>
        <p:nvSpPr>
          <p:cNvPr id="15" name="Text 10"/>
          <p:cNvSpPr/>
          <p:nvPr/>
        </p:nvSpPr>
        <p:spPr>
          <a:xfrm>
            <a:off x="8394192" y="1847088"/>
            <a:ext cx="2971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3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и контур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8449056" y="2542032"/>
            <a:ext cx="28620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обоснован выбор ARIMAX, GARCH, VARX и наивной модели;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зафиксированы единые правила подготовки данных и метрики;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сформирована методическая база для главы 4.</a:t>
            </a:r>
            <a:endParaRPr lang="en-US" sz="1320" dirty="0"/>
          </a:p>
        </p:txBody>
      </p:sp>
      <p:sp>
        <p:nvSpPr>
          <p:cNvPr id="17" name="Shape 12"/>
          <p:cNvSpPr/>
          <p:nvPr/>
        </p:nvSpPr>
        <p:spPr>
          <a:xfrm>
            <a:off x="1005840" y="5532120"/>
            <a:ext cx="10561320" cy="384048"/>
          </a:xfrm>
          <a:prstGeom prst="roundRect">
            <a:avLst>
              <a:gd name="adj" fmla="val 14286"/>
            </a:avLst>
          </a:prstGeom>
          <a:solidFill>
            <a:srgbClr val="EAF4FF"/>
          </a:solidFill>
          <a:ln w="10160">
            <a:solidFill>
              <a:srgbClr val="CFE3F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3"/>
          <p:cNvSpPr/>
          <p:nvPr/>
        </p:nvSpPr>
        <p:spPr>
          <a:xfrm>
            <a:off x="1207008" y="5632704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Оформлены введение, перечень обозначений, заключение-черновик и список из 30 источников; в текущей версии уже собран единый каркас исследования.</a:t>
            </a:r>
            <a:endParaRPr lang="en-US" sz="11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5BB"/>
          </a:solidFill>
          <a:ln w="12700">
            <a:solidFill>
              <a:srgbClr val="0055B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" name="Image 0" descr="/tmp/predzashita_mephi/media/image2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9281160" y="0"/>
            <a:ext cx="2907792" cy="1005840"/>
          </a:xfrm>
          <a:prstGeom prst="rect">
            <a:avLst/>
          </a:prstGeom>
        </p:spPr>
      </p:pic>
      <p:pic>
        <p:nvPicPr>
          <p:cNvPr id="4" name="Image 1" descr="/tmp/predzashita_mephi/media/image1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0" y="1298448"/>
            <a:ext cx="777240" cy="1280160"/>
          </a:xfrm>
          <a:prstGeom prst="rect">
            <a:avLst/>
          </a:prstGeom>
        </p:spPr>
      </p:pic>
      <p:pic>
        <p:nvPicPr>
          <p:cNvPr id="5" name="Image 2" descr="/tmp/predzashita_mephi/media/image1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0" y="6245352"/>
            <a:ext cx="7772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58368" y="20116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Что остается сделать до защиты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1164031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8" name="Shape 3"/>
          <p:cNvSpPr/>
          <p:nvPr/>
        </p:nvSpPr>
        <p:spPr>
          <a:xfrm>
            <a:off x="1417320" y="2852928"/>
            <a:ext cx="9235440" cy="0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0055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4"/>
          <p:cNvSpPr/>
          <p:nvPr/>
        </p:nvSpPr>
        <p:spPr>
          <a:xfrm>
            <a:off x="1709928" y="2688336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5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5"/>
          <p:cNvSpPr/>
          <p:nvPr/>
        </p:nvSpPr>
        <p:spPr>
          <a:xfrm>
            <a:off x="1874520" y="3035808"/>
            <a:ext cx="0" cy="384048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0055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6"/>
          <p:cNvSpPr/>
          <p:nvPr/>
        </p:nvSpPr>
        <p:spPr>
          <a:xfrm>
            <a:off x="1051560" y="20848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20.05.2026</a:t>
            </a:r>
            <a:endParaRPr lang="en-US" sz="1180" dirty="0"/>
          </a:p>
        </p:txBody>
      </p:sp>
      <p:sp>
        <p:nvSpPr>
          <p:cNvPr id="12" name="Shape 7"/>
          <p:cNvSpPr/>
          <p:nvPr/>
        </p:nvSpPr>
        <p:spPr>
          <a:xfrm>
            <a:off x="612648" y="3438144"/>
            <a:ext cx="2523744" cy="14630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8"/>
          <p:cNvSpPr/>
          <p:nvPr/>
        </p:nvSpPr>
        <p:spPr>
          <a:xfrm>
            <a:off x="777240" y="3611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реализация</a:t>
            </a:r>
            <a:endParaRPr lang="en-US" sz="1360" dirty="0"/>
          </a:p>
        </p:txBody>
      </p:sp>
      <p:sp>
        <p:nvSpPr>
          <p:cNvPr id="14" name="Text 9"/>
          <p:cNvSpPr/>
          <p:nvPr/>
        </p:nvSpPr>
        <p:spPr>
          <a:xfrm>
            <a:off x="795528" y="3968496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синхронизировать котировки и новости;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межагентный контур и baseline-код</a:t>
            </a:r>
            <a:endParaRPr lang="en-US" sz="1180" dirty="0"/>
          </a:p>
        </p:txBody>
      </p:sp>
      <p:sp>
        <p:nvSpPr>
          <p:cNvPr id="15" name="Shape 10"/>
          <p:cNvSpPr/>
          <p:nvPr/>
        </p:nvSpPr>
        <p:spPr>
          <a:xfrm>
            <a:off x="5413248" y="2688336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5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1"/>
          <p:cNvSpPr/>
          <p:nvPr/>
        </p:nvSpPr>
        <p:spPr>
          <a:xfrm>
            <a:off x="5577840" y="3035808"/>
            <a:ext cx="0" cy="384048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0055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2"/>
          <p:cNvSpPr/>
          <p:nvPr/>
        </p:nvSpPr>
        <p:spPr>
          <a:xfrm>
            <a:off x="4754880" y="20848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20.05–31.05</a:t>
            </a:r>
            <a:endParaRPr lang="en-US" sz="1180" dirty="0"/>
          </a:p>
        </p:txBody>
      </p:sp>
      <p:sp>
        <p:nvSpPr>
          <p:cNvPr id="18" name="Shape 13"/>
          <p:cNvSpPr/>
          <p:nvPr/>
        </p:nvSpPr>
        <p:spPr>
          <a:xfrm>
            <a:off x="4315968" y="3438144"/>
            <a:ext cx="2523744" cy="14630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4"/>
          <p:cNvSpPr/>
          <p:nvPr/>
        </p:nvSpPr>
        <p:spPr>
          <a:xfrm>
            <a:off x="4480560" y="3611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Экспериментальная глава</a:t>
            </a:r>
            <a:endParaRPr lang="en-US" sz="1360" dirty="0"/>
          </a:p>
        </p:txBody>
      </p:sp>
      <p:sp>
        <p:nvSpPr>
          <p:cNvPr id="20" name="Text 15"/>
          <p:cNvSpPr/>
          <p:nvPr/>
        </p:nvSpPr>
        <p:spPr>
          <a:xfrm>
            <a:off x="4498848" y="3968496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запустить сравнительные эксперименты;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выполнить абляции по тональности, лагам, тематике и источникам</a:t>
            </a:r>
            <a:endParaRPr lang="en-US" sz="1180" dirty="0"/>
          </a:p>
        </p:txBody>
      </p:sp>
      <p:sp>
        <p:nvSpPr>
          <p:cNvPr id="21" name="Shape 16"/>
          <p:cNvSpPr/>
          <p:nvPr/>
        </p:nvSpPr>
        <p:spPr>
          <a:xfrm>
            <a:off x="9116568" y="2688336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55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Shape 17"/>
          <p:cNvSpPr/>
          <p:nvPr/>
        </p:nvSpPr>
        <p:spPr>
          <a:xfrm>
            <a:off x="9281160" y="3035808"/>
            <a:ext cx="0" cy="384048"/>
          </a:xfrm>
          <a:prstGeom prst="line">
            <a:avLst/>
          </a:prstGeom>
          <a:solidFill>
            <a:srgbClr val="FFFFFF">
              <a:alpha val="0"/>
            </a:srgbClr>
          </a:solidFill>
          <a:ln w="17780">
            <a:solidFill>
              <a:srgbClr val="0055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18"/>
          <p:cNvSpPr/>
          <p:nvPr/>
        </p:nvSpPr>
        <p:spPr>
          <a:xfrm>
            <a:off x="8458200" y="20848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07.06.2026</a:t>
            </a:r>
            <a:endParaRPr lang="en-US" sz="1180" dirty="0"/>
          </a:p>
        </p:txBody>
      </p:sp>
      <p:sp>
        <p:nvSpPr>
          <p:cNvPr id="24" name="Shape 19"/>
          <p:cNvSpPr/>
          <p:nvPr/>
        </p:nvSpPr>
        <p:spPr>
          <a:xfrm>
            <a:off x="8019288" y="3438144"/>
            <a:ext cx="2523744" cy="146304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0"/>
          <p:cNvSpPr/>
          <p:nvPr/>
        </p:nvSpPr>
        <p:spPr>
          <a:xfrm>
            <a:off x="8183880" y="3611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сборка ВКР</a:t>
            </a:r>
            <a:endParaRPr lang="en-US" sz="1360" dirty="0"/>
          </a:p>
        </p:txBody>
      </p:sp>
      <p:sp>
        <p:nvSpPr>
          <p:cNvPr id="26" name="Text 21"/>
          <p:cNvSpPr/>
          <p:nvPr/>
        </p:nvSpPr>
        <p:spPr>
          <a:xfrm>
            <a:off x="8202168" y="3968496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проанализировать результаты;</a:t>
            </a:r>
            <a:endParaRPr lang="en-US" sz="1180" dirty="0"/>
          </a:p>
          <a:p>
            <a:pPr marL="0" indent="0" algn="ctr">
              <a:buNone/>
            </a:pPr>
            <a:r>
              <a:rPr lang="en-US" sz="118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оформить выводы, таблицы, рисунки и итоговую редакцию</a:t>
            </a:r>
            <a:endParaRPr lang="en-US" sz="1180" dirty="0"/>
          </a:p>
        </p:txBody>
      </p:sp>
      <p:sp>
        <p:nvSpPr>
          <p:cNvPr id="27" name="Text 22"/>
          <p:cNvSpPr/>
          <p:nvPr/>
        </p:nvSpPr>
        <p:spPr>
          <a:xfrm>
            <a:off x="914400" y="598932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результат должен включать полностью оформленную главу 4 с количественным сравнением многоагентной архитектуры и статистических baseline-моделей.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55BB"/>
          </a:solidFill>
          <a:ln w="12700">
            <a:solidFill>
              <a:srgbClr val="0055B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3" name="Image 0" descr="/tmp/predzashita_mephi/media/image2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9281160" y="0"/>
            <a:ext cx="2907792" cy="1005840"/>
          </a:xfrm>
          <a:prstGeom prst="rect">
            <a:avLst/>
          </a:prstGeom>
        </p:spPr>
      </p:pic>
      <p:pic>
        <p:nvPicPr>
          <p:cNvPr id="4" name="Image 1" descr="/tmp/predzashita_mephi/media/image1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0" y="1298448"/>
            <a:ext cx="777240" cy="1280160"/>
          </a:xfrm>
          <a:prstGeom prst="rect">
            <a:avLst/>
          </a:prstGeom>
        </p:spPr>
      </p:pic>
      <p:pic>
        <p:nvPicPr>
          <p:cNvPr id="5" name="Image 2" descr="/tmp/predzashita_mephi/media/image1.png"/>
          <p:cNvPicPr>
            <a:picLocks noChangeAspect="1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>
            <a:off x="0" y="6245352"/>
            <a:ext cx="777240" cy="411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58368" y="20116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Ожидаемый результат предзащиты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1164031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8" name="Shape 3"/>
          <p:cNvSpPr/>
          <p:nvPr/>
        </p:nvSpPr>
        <p:spPr>
          <a:xfrm>
            <a:off x="841248" y="1572768"/>
            <a:ext cx="6720840" cy="4480560"/>
          </a:xfrm>
          <a:prstGeom prst="roundRect">
            <a:avLst>
              <a:gd name="adj" fmla="val 1633"/>
            </a:avLst>
          </a:prstGeom>
          <a:solidFill>
            <a:srgbClr val="FAFAFA"/>
          </a:solidFill>
          <a:ln w="12700">
            <a:solidFill>
              <a:srgbClr val="C6D4E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4"/>
          <p:cNvSpPr/>
          <p:nvPr/>
        </p:nvSpPr>
        <p:spPr>
          <a:xfrm>
            <a:off x="1078992" y="181051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005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финальной версии ВКР необходимо получить:</a:t>
            </a:r>
            <a:endParaRPr lang="en-US" sz="1420" dirty="0"/>
          </a:p>
        </p:txBody>
      </p:sp>
      <p:sp>
        <p:nvSpPr>
          <p:cNvPr id="10" name="Text 5"/>
          <p:cNvSpPr/>
          <p:nvPr/>
        </p:nvSpPr>
        <p:spPr>
          <a:xfrm>
            <a:off x="1078992" y="2139696"/>
            <a:ext cx="5989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4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количественное сравнение LLM-многоагентной архитектуры с ARIMAX, GARCH и VARX;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ранжирование характеристик новостного потока по их реальному вкладу в качество прогноза;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границы применимости подхода по точности, шумоустойчивости и вычислительной стоимости;</a:t>
            </a:r>
            <a:endParaRPr lang="en-US" sz="1440" dirty="0"/>
          </a:p>
          <a:p>
            <a:pPr marL="0" indent="0">
              <a:buNone/>
            </a:pPr>
            <a:r>
              <a:rPr lang="en-US" sz="144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завершенную главу 4 и итоговые выводы о перспективности решения.</a:t>
            </a:r>
            <a:endParaRPr lang="en-US" sz="1440" dirty="0"/>
          </a:p>
        </p:txBody>
      </p:sp>
      <p:sp>
        <p:nvSpPr>
          <p:cNvPr id="11" name="Shape 6"/>
          <p:cNvSpPr/>
          <p:nvPr/>
        </p:nvSpPr>
        <p:spPr>
          <a:xfrm>
            <a:off x="7863840" y="1755648"/>
            <a:ext cx="3291840" cy="4169664"/>
          </a:xfrm>
          <a:prstGeom prst="roundRect">
            <a:avLst>
              <a:gd name="adj" fmla="val 2222"/>
            </a:avLst>
          </a:prstGeom>
          <a:solidFill>
            <a:srgbClr val="0055BB"/>
          </a:solidFill>
          <a:ln w="12700">
            <a:solidFill>
              <a:srgbClr val="0055B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7"/>
          <p:cNvSpPr/>
          <p:nvPr/>
        </p:nvSpPr>
        <p:spPr>
          <a:xfrm>
            <a:off x="8138160" y="1993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Текущий статус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229600" y="2578608"/>
            <a:ext cx="2560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Теоретическая и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методическая база сформирована.</a:t>
            </a:r>
            <a:endParaRPr lang="en-US" sz="1520" dirty="0"/>
          </a:p>
          <a:p>
            <a:pPr marL="0" indent="0" algn="ctr">
              <a:buNone/>
            </a:pPr>
            <a:endParaRPr lang="en-US" sz="1520" dirty="0"/>
          </a:p>
          <a:p>
            <a:pPr marL="0" indent="0" algn="ctr">
              <a:buNone/>
            </a:pPr>
            <a:r>
              <a:rPr lang="en-US" sz="15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Ключевой следующий этап —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эмпирическая проверка на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исторических данных.</a:t>
            </a:r>
            <a:endParaRPr lang="en-US" sz="1520" dirty="0"/>
          </a:p>
          <a:p>
            <a:pPr marL="0" indent="0" algn="ctr">
              <a:buNone/>
            </a:pPr>
            <a:endParaRPr lang="en-US" sz="1520" dirty="0"/>
          </a:p>
          <a:p>
            <a:pPr marL="0" indent="0" algn="ctr">
              <a:buNone/>
            </a:pPr>
            <a:r>
              <a:rPr lang="en-US" sz="15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готовности:</a:t>
            </a:r>
            <a:endParaRPr lang="en-US" sz="1520" dirty="0"/>
          </a:p>
          <a:p>
            <a:pPr marL="0" indent="0" algn="ctr">
              <a:buNone/>
            </a:pPr>
            <a:r>
              <a:rPr lang="en-US" sz="15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1520" dirty="0"/>
          </a:p>
        </p:txBody>
      </p:sp>
      <p:sp>
        <p:nvSpPr>
          <p:cNvPr id="14" name="Text 9"/>
          <p:cNvSpPr/>
          <p:nvPr/>
        </p:nvSpPr>
        <p:spPr>
          <a:xfrm>
            <a:off x="914400" y="6053328"/>
            <a:ext cx="10378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Предзащита подтверждает готовность логики исследования; итоговая ценность работы будет определяться качеством реализованного экспериментального сравнения.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redzashita_mephi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49" y="1965960"/>
            <a:ext cx="3304903" cy="2103120"/>
          </a:xfrm>
          <a:prstGeom prst="rect">
            <a:avLst/>
          </a:prstGeom>
        </p:spPr>
      </p:pic>
      <p:pic>
        <p:nvPicPr>
          <p:cNvPr id="3" name="Image 1" descr="/tmp/predzashita_mephi/media/image1.png"/>
          <p:cNvPicPr>
            <a:picLocks noChangeAspect="1"/>
          </p:cNvPicPr>
          <p:nvPr/>
        </p:nvPicPr>
        <p:blipFill>
          <a:blip r:embed="rId4">
            <a:alphaModFix amt="65000"/>
          </a:blip>
          <a:srcRect l="18063" r="18063"/>
          <a:stretch/>
        </p:blipFill>
        <p:spPr>
          <a:xfrm>
            <a:off x="0" y="2743200"/>
            <a:ext cx="640080" cy="1005840"/>
          </a:xfrm>
          <a:prstGeom prst="rect">
            <a:avLst/>
          </a:prstGeom>
        </p:spPr>
      </p:pic>
      <p:pic>
        <p:nvPicPr>
          <p:cNvPr id="4" name="Image 2" descr="/tmp/predzashita_mephi/media/image3.png"/>
          <p:cNvPicPr>
            <a:picLocks noChangeAspect="1"/>
          </p:cNvPicPr>
          <p:nvPr/>
        </p:nvPicPr>
        <p:blipFill>
          <a:blip r:embed="rId5">
            <a:alphaModFix amt="65000"/>
          </a:blip>
          <a:srcRect l="18516" r="18516"/>
          <a:stretch/>
        </p:blipFill>
        <p:spPr>
          <a:xfrm>
            <a:off x="11503152" y="914400"/>
            <a:ext cx="685800" cy="10972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360920" y="2697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55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Спасибо за внимание!</a:t>
            </a:r>
            <a:endParaRPr lang="en-US" sz="2400" dirty="0"/>
          </a:p>
        </p:txBody>
      </p:sp>
      <p:sp>
        <p:nvSpPr>
          <p:cNvPr id="6" name="Text 1"/>
          <p:cNvSpPr/>
          <p:nvPr/>
        </p:nvSpPr>
        <p:spPr>
          <a:xfrm>
            <a:off x="6583680" y="376732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ответить на вопросы по архитектуре, экспериментальному контуру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0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плану завершения ВКР.</a:t>
            </a:r>
            <a:endParaRPr lang="en-US" sz="1300" dirty="0"/>
          </a:p>
        </p:txBody>
      </p:sp>
      <p:sp>
        <p:nvSpPr>
          <p:cNvPr id="7" name="Text 2"/>
          <p:cNvSpPr/>
          <p:nvPr/>
        </p:nvSpPr>
        <p:spPr>
          <a:xfrm>
            <a:off x="11640312" y="6446520"/>
            <a:ext cx="228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1044</Words>
  <Application>Microsoft Office PowerPoint</Application>
  <PresentationFormat>Widescreen</PresentationFormat>
  <Paragraphs>200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2026-04-12T20:49:09Z</dcterms:created>
  <dcterms:modified xsi:type="dcterms:W3CDTF">2026-04-12T20:50:18Z</dcterms:modified>
</cp:coreProperties>
</file>